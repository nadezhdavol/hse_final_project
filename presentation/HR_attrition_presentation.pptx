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3"/>
  </p:sldMasterIdLst>
  <p:notesMasterIdLst>
    <p:notesMasterId r:id="rId31"/>
  </p:notesMasterIdLst>
  <p:handoutMasterIdLst>
    <p:handoutMasterId r:id="rId32"/>
  </p:handoutMasterIdLst>
  <p:sldIdLst>
    <p:sldId id="298" r:id="rId4"/>
    <p:sldId id="292" r:id="rId5"/>
    <p:sldId id="283" r:id="rId6"/>
    <p:sldId id="302" r:id="rId7"/>
    <p:sldId id="322" r:id="rId8"/>
    <p:sldId id="297" r:id="rId9"/>
    <p:sldId id="303" r:id="rId10"/>
    <p:sldId id="284" r:id="rId11"/>
    <p:sldId id="323" r:id="rId12"/>
    <p:sldId id="301" r:id="rId13"/>
    <p:sldId id="304" r:id="rId14"/>
    <p:sldId id="305" r:id="rId15"/>
    <p:sldId id="306" r:id="rId16"/>
    <p:sldId id="308" r:id="rId17"/>
    <p:sldId id="307" r:id="rId18"/>
    <p:sldId id="313" r:id="rId19"/>
    <p:sldId id="321" r:id="rId20"/>
    <p:sldId id="311" r:id="rId21"/>
    <p:sldId id="312" r:id="rId22"/>
    <p:sldId id="314" r:id="rId23"/>
    <p:sldId id="315" r:id="rId24"/>
    <p:sldId id="324" r:id="rId25"/>
    <p:sldId id="317" r:id="rId26"/>
    <p:sldId id="316" r:id="rId27"/>
    <p:sldId id="319" r:id="rId28"/>
    <p:sldId id="320" r:id="rId29"/>
    <p:sldId id="296" r:id="rId30"/>
  </p:sldIdLst>
  <p:sldSz cx="12192000" cy="6858000"/>
  <p:notesSz cx="6858000" cy="9144000"/>
  <p:defaultTextStyle>
    <a:defPPr rtl="0"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73A0DAA-6AF3-43AB-8588-CEC1D06C72B9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574" autoAdjust="0"/>
  </p:normalViewPr>
  <p:slideViewPr>
    <p:cSldViewPr snapToGrid="0">
      <p:cViewPr varScale="1">
        <p:scale>
          <a:sx n="97" d="100"/>
          <a:sy n="97" d="100"/>
        </p:scale>
        <p:origin x="58" y="3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7" d="100"/>
          <a:sy n="87" d="100"/>
        </p:scale>
        <p:origin x="3840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34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theme" Target="theme/theme1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7D2F3D5-FC6D-4BAD-8FD0-CBFB83D68AE6}" type="datetime1">
              <a:rPr lang="ru-RU" smtClean="0"/>
              <a:t>12.10.2026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682C0B10-7CAE-41E4-AB02-7E8B1FF2B898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9FB893-0FFF-4C7C-B648-8CDDC0CCCD58}" type="datetime1">
              <a:rPr lang="ru-RU" smtClean="0"/>
              <a:pPr/>
              <a:t>11.10.2026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ru-RU" noProof="0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ru-RU" noProof="0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530193B-564F-4854-8A52-728F3FB19C85}" type="slidenum">
              <a:rPr lang="ru-RU" noProof="0" smtClean="0"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9225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9291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2871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38595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5229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022685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650639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40282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71649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48961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356473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5695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482681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642290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46022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716476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897512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367393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19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83829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69298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8485441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700344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925770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59330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8979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13190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8530193B-564F-4854-8A52-728F3FB19C85}" type="slidenum">
              <a:rPr lang="ru-RU" smtClean="0"/>
              <a:t>27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7031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итульный слайд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804025"/>
          </a:xfrm>
          <a:solidFill>
            <a:schemeClr val="bg1">
              <a:lumMod val="85000"/>
            </a:schemeClr>
          </a:solidFill>
        </p:spPr>
        <p:txBody>
          <a:bodyPr tIns="1728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200400" y="2811053"/>
            <a:ext cx="8991600" cy="1261295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lnSpc>
                <a:spcPct val="70000"/>
              </a:lnSpc>
              <a:defRPr lang="en-ZA" sz="4200" b="1" spc="-300" dirty="0"/>
            </a:lvl1pPr>
          </a:lstStyle>
          <a:p>
            <a:pPr lvl="0" algn="r" rtl="0"/>
            <a:r>
              <a:rPr lang="ru-RU" noProof="0" dirty="0"/>
              <a:t>Щелкните, чтобы изменить название презентации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9980B88-3F4A-4688-9ED0-17EF37E62D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400" y="4061039"/>
            <a:ext cx="6580188" cy="580921"/>
          </a:xfrm>
          <a:solidFill>
            <a:schemeClr val="tx1">
              <a:alpha val="80000"/>
            </a:schemeClr>
          </a:solidFill>
        </p:spPr>
        <p:txBody>
          <a:bodyPr vert="horz" lIns="180000" tIns="180000" rIns="180000" bIns="180000" rtlCol="0">
            <a:noAutofit/>
          </a:bodyPr>
          <a:lstStyle>
            <a:lvl1pPr marL="0" indent="0" algn="r">
              <a:buNone/>
              <a:defRPr lang="en-ZA" dirty="0">
                <a:solidFill>
                  <a:schemeClr val="bg1"/>
                </a:solidFill>
              </a:defRPr>
            </a:lvl1pPr>
          </a:lstStyle>
          <a:p>
            <a:pPr marL="266700" lvl="0" indent="-266700" algn="ctr" rtl="0"/>
            <a:r>
              <a:rPr lang="ru-RU" noProof="0"/>
              <a:t>Образец подзаголовка</a:t>
            </a:r>
            <a:endParaRPr lang="ru-RU" noProof="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269861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33403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лайд-разделитель 1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</a:t>
            </a:r>
            <a:br>
              <a:rPr lang="ru-RU" noProof="0" dirty="0"/>
            </a:br>
            <a:r>
              <a:rPr lang="ru-RU" noProof="0" dirty="0"/>
              <a:t>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5700" y="2204792"/>
            <a:ext cx="5956300" cy="1944000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lnSpc>
                <a:spcPct val="80000"/>
              </a:lnSpc>
              <a:defRPr lang="en-ZA" sz="4200" b="1" spc="-300" dirty="0"/>
            </a:lvl1pPr>
          </a:lstStyle>
          <a:p>
            <a:pPr lvl="0" algn="r" rtl="0"/>
            <a:r>
              <a:rPr lang="ru-RU" noProof="0" dirty="0"/>
              <a:t>Щелкните, чтобы изменить разделитель разделов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5700" y="41488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180000" tIns="180000" rIns="252000" bIns="180000" rtlCol="0"/>
          <a:lstStyle>
            <a:lvl1pPr marL="0" indent="0" algn="r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ru-RU" noProof="0" dirty="0"/>
              <a:t>Образец подзаголовка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9780588" y="5247782"/>
            <a:ext cx="2411412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437159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азделитель 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411412" y="0"/>
            <a:ext cx="9780588" cy="6371351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</a:t>
            </a:r>
            <a:br>
              <a:rPr lang="ru-RU" noProof="0" dirty="0"/>
            </a:br>
            <a:r>
              <a:rPr lang="ru-RU" noProof="0" dirty="0"/>
              <a:t>свое фото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E473AB13-DFF9-4538-9907-E261659E0E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700" y="2156226"/>
            <a:ext cx="5958000" cy="1958400"/>
          </a:xfrm>
          <a:solidFill>
            <a:schemeClr val="bg1"/>
          </a:solidFill>
        </p:spPr>
        <p:txBody>
          <a:bodyPr lIns="252000" tIns="180000" rIns="180000" bIns="180000" rtlCol="0"/>
          <a:lstStyle>
            <a:lvl1pPr>
              <a:lnSpc>
                <a:spcPct val="70000"/>
              </a:lnSpc>
              <a:defRPr sz="4200" b="1" spc="-30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rtl="0"/>
            <a:r>
              <a:rPr lang="ru-RU" noProof="0" dirty="0"/>
              <a:t>Щелкните, чтобы изменить разделитель разделов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9E4D4535-D519-40ED-B8A4-2EA1276BB65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4110760"/>
            <a:ext cx="5956300" cy="1100565"/>
          </a:xfrm>
          <a:solidFill>
            <a:schemeClr val="tx1">
              <a:alpha val="80000"/>
            </a:schemeClr>
          </a:solidFill>
        </p:spPr>
        <p:txBody>
          <a:bodyPr lIns="252000" tIns="180000" rIns="180000" bIns="180000" rtlCol="0"/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266700" indent="0" algn="r">
              <a:buNone/>
              <a:defRPr sz="1800">
                <a:solidFill>
                  <a:schemeClr val="bg1"/>
                </a:solidFill>
              </a:defRPr>
            </a:lvl2pPr>
            <a:lvl3pPr marL="542925" indent="0" algn="r">
              <a:buNone/>
              <a:defRPr sz="1800">
                <a:solidFill>
                  <a:schemeClr val="bg1"/>
                </a:solidFill>
              </a:defRPr>
            </a:lvl3pPr>
            <a:lvl4pPr marL="809625" indent="0" algn="r">
              <a:buNone/>
              <a:defRPr sz="1800">
                <a:solidFill>
                  <a:schemeClr val="bg1"/>
                </a:solidFill>
              </a:defRPr>
            </a:lvl4pPr>
            <a:lvl5pPr marL="1076325" indent="0" algn="r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ru-RU" noProof="0" dirty="0"/>
              <a:t>Образец подзаголовка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816FE98-6A12-44EC-8485-8B5EFAB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0" y="5209682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noProof="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50EF489-F21B-4E7C-9A44-D3CC8DC34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282858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екст и изображение 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11800" y="3802899"/>
            <a:ext cx="4648200" cy="985000"/>
          </a:xfrm>
          <a:solidFill>
            <a:schemeClr val="bg1"/>
          </a:solidFill>
        </p:spPr>
        <p:txBody>
          <a:bodyPr lIns="180000" tIns="180000" rIns="180000" bIns="180000" rtlCol="0"/>
          <a:lstStyle>
            <a:lvl1pPr algn="r">
              <a:lnSpc>
                <a:spcPct val="70000"/>
              </a:lnSpc>
              <a:defRPr sz="42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Изменить заголовок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111800" y="4787900"/>
            <a:ext cx="4648200" cy="1162800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endParaRPr lang="ru-RU" noProof="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449317"/>
            <a:ext cx="5472000" cy="5707117"/>
          </a:xfrm>
        </p:spPr>
        <p:txBody>
          <a:bodyPr rtlCol="0" anchor="b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1508F53F-6AA2-4060-904A-BC90211DC043}"/>
              </a:ext>
            </a:extLst>
          </p:cNvPr>
          <p:cNvSpPr/>
          <p:nvPr userDrawn="1"/>
        </p:nvSpPr>
        <p:spPr>
          <a:xfrm>
            <a:off x="9348588" y="3700775"/>
            <a:ext cx="2411412" cy="11482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3501039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Текст и изображение 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-1"/>
            <a:ext cx="6096000" cy="6371351"/>
          </a:xfrm>
          <a:solidFill>
            <a:schemeClr val="bg1">
              <a:lumMod val="95000"/>
            </a:schemeClr>
          </a:solidFill>
        </p:spPr>
        <p:txBody>
          <a:bodyPr tIns="1584000" rtlCol="0" anchor="t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8100" y="1869795"/>
            <a:ext cx="6641900" cy="1124345"/>
          </a:xfrm>
          <a:solidFill>
            <a:schemeClr val="bg1">
              <a:lumMod val="95000"/>
            </a:schemeClr>
          </a:solidFill>
        </p:spPr>
        <p:txBody>
          <a:bodyPr lIns="180000" tIns="180000" rIns="180000" bIns="180000" rtlCol="0"/>
          <a:lstStyle>
            <a:lvl1pPr algn="l">
              <a:lnSpc>
                <a:spcPct val="70000"/>
              </a:lnSpc>
              <a:defRPr sz="4200" b="1" spc="-3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3FAEED1D-0E66-4F74-9455-675F5CB7EAD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118334" y="2994141"/>
            <a:ext cx="6641626" cy="590155"/>
          </a:xfrm>
          <a:solidFill>
            <a:schemeClr val="tx1">
              <a:alpha val="80000"/>
            </a:schemeClr>
          </a:solidFill>
        </p:spPr>
        <p:txBody>
          <a:bodyPr lIns="180000" tIns="180000" rIns="180000" bIns="180000" rtlCol="0"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8000" y="3763648"/>
            <a:ext cx="5472000" cy="2428351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505ED12-A431-4761-87A4-F05164BE022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A5285E0-8F27-49C4-AADF-92A3B72D41FD}"/>
              </a:ext>
            </a:extLst>
          </p:cNvPr>
          <p:cNvSpPr/>
          <p:nvPr userDrawn="1"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3843892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288DD7-6DAF-436D-B04A-EBCCAA3691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E4633398-8EC3-417B-BEA6-101D8F22467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Сравнение слева — заполнитель 1">
            <a:extLst>
              <a:ext uri="{FF2B5EF4-FFF2-40B4-BE49-F238E27FC236}">
                <a16:creationId xmlns:a16="http://schemas.microsoft.com/office/drawing/2014/main" id="{9322B50D-6A7D-41C6-BA57-613BC231DF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5834"/>
            <a:ext cx="5472000" cy="360000"/>
          </a:xfrm>
        </p:spPr>
        <p:txBody>
          <a:bodyPr rtlCol="0" anchor="t"/>
          <a:lstStyle>
            <a:lvl1pPr marL="0" indent="0">
              <a:buNone/>
              <a:defRPr sz="24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ru-RU" noProof="0"/>
              <a:t>Образец текста</a:t>
            </a:r>
          </a:p>
        </p:txBody>
      </p:sp>
      <p:sp>
        <p:nvSpPr>
          <p:cNvPr id="4" name="Объект 2">
            <a:extLst>
              <a:ext uri="{FF2B5EF4-FFF2-40B4-BE49-F238E27FC236}">
                <a16:creationId xmlns:a16="http://schemas.microsoft.com/office/drawing/2014/main" id="{9FD584DA-F775-47B8-A1D7-6556AD5FC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2000" y="2023668"/>
            <a:ext cx="5472000" cy="4168332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2" name="Сравнение слева — заполнитель 2">
            <a:extLst>
              <a:ext uri="{FF2B5EF4-FFF2-40B4-BE49-F238E27FC236}">
                <a16:creationId xmlns:a16="http://schemas.microsoft.com/office/drawing/2014/main" id="{78A963F8-6F6E-440E-B3B3-DDE13C083A3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00000" y="1516359"/>
            <a:ext cx="5472000" cy="358775"/>
          </a:xfrm>
        </p:spPr>
        <p:txBody>
          <a:bodyPr rtlCol="0"/>
          <a:lstStyle>
            <a:lvl1pPr marL="0" indent="0">
              <a:buNone/>
              <a:defRPr sz="2400" b="1"/>
            </a:lvl1pPr>
          </a:lstStyle>
          <a:p>
            <a:pPr lvl="0" rtl="0"/>
            <a:r>
              <a:rPr lang="ru-RU" noProof="0" dirty="0"/>
              <a:t>Образец текста</a:t>
            </a:r>
          </a:p>
        </p:txBody>
      </p:sp>
      <p:sp>
        <p:nvSpPr>
          <p:cNvPr id="8" name="Текст 4">
            <a:extLst>
              <a:ext uri="{FF2B5EF4-FFF2-40B4-BE49-F238E27FC236}">
                <a16:creationId xmlns:a16="http://schemas.microsoft.com/office/drawing/2014/main" id="{DF0A5256-B267-47DA-858A-0F3867CB613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2020359"/>
            <a:ext cx="5472113" cy="4170891"/>
          </a:xfrm>
        </p:spPr>
        <p:txBody>
          <a:bodyPr rtlCol="0"/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6B8F99-FAB0-4B33-87ED-9FF46D11A9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8733E7E-50D2-4F6C-9DF2-CF4C98C4B84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509955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Большое фот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Рисунок 6">
            <a:extLst>
              <a:ext uri="{FF2B5EF4-FFF2-40B4-BE49-F238E27FC236}">
                <a16:creationId xmlns:a16="http://schemas.microsoft.com/office/drawing/2014/main" id="{890ED7CE-A9D2-4D19-B978-56BFB74E6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1"/>
            <a:ext cx="12192000" cy="6371350"/>
          </a:xfrm>
          <a:solidFill>
            <a:schemeClr val="bg1">
              <a:lumMod val="85000"/>
            </a:schemeClr>
          </a:solidFill>
        </p:spPr>
        <p:txBody>
          <a:bodyPr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6000" y="5359400"/>
            <a:ext cx="5664000" cy="565899"/>
          </a:xfrm>
          <a:solidFill>
            <a:schemeClr val="tx1"/>
          </a:solidFill>
        </p:spPr>
        <p:txBody>
          <a:bodyPr lIns="180000" tIns="180000" rIns="180000" bIns="180000" rtlCol="0" anchor="ctr"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 dirty="0"/>
              <a:t>Введите подпись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B3D119C-DBF5-4B4F-BE38-7BD7B5C8A5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7F8E7C83-06D7-4C5B-85B7-0E5713B4F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98778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Спасибо за внимание!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EB7F0EE8-BE52-4A79-8FC8-4A2487FA01F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780102" cy="6804025"/>
          </a:xfrm>
          <a:solidFill>
            <a:schemeClr val="bg1">
              <a:lumMod val="85000"/>
            </a:schemeClr>
          </a:solidFill>
        </p:spPr>
        <p:txBody>
          <a:bodyPr tIns="0" rtlCol="0" anchor="ctr"/>
          <a:lstStyle>
            <a:lvl1pPr marL="0" indent="0" algn="ctr">
              <a:buNone/>
              <a:defRPr sz="12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rtl="0"/>
            <a:r>
              <a:rPr lang="ru-RU" noProof="0" dirty="0"/>
              <a:t>Вставьте или перетащите свое фото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0F23EB7-E336-46EB-A4A0-3DB7A6BF4C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458200" y="2798354"/>
            <a:ext cx="3733800" cy="1013684"/>
          </a:xfrm>
          <a:solidFill>
            <a:schemeClr val="bg1"/>
          </a:solidFill>
        </p:spPr>
        <p:txBody>
          <a:bodyPr vert="horz" lIns="180000" tIns="180000" rIns="252000" bIns="180000" rtlCol="0" anchor="t">
            <a:noAutofit/>
          </a:bodyPr>
          <a:lstStyle>
            <a:lvl1pPr algn="r">
              <a:lnSpc>
                <a:spcPct val="60000"/>
              </a:lnSpc>
              <a:defRPr lang="en-ZA" sz="4200" b="1" spc="-300" dirty="0"/>
            </a:lvl1pPr>
          </a:lstStyle>
          <a:p>
            <a:pPr lvl="0" algn="r" rtl="0"/>
            <a:r>
              <a:rPr lang="ru-RU" noProof="0" dirty="0"/>
              <a:t>Спасибо за внимание!</a:t>
            </a:r>
          </a:p>
        </p:txBody>
      </p:sp>
      <p:sp>
        <p:nvSpPr>
          <p:cNvPr id="9" name="Текст 5">
            <a:extLst>
              <a:ext uri="{FF2B5EF4-FFF2-40B4-BE49-F238E27FC236}">
                <a16:creationId xmlns:a16="http://schemas.microsoft.com/office/drawing/2014/main" id="{52FA7FC9-E40E-4144-84E4-34E3722E9A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458200" y="3957705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Полное имя</a:t>
            </a:r>
          </a:p>
        </p:txBody>
      </p:sp>
      <p:sp>
        <p:nvSpPr>
          <p:cNvPr id="10" name="Текст 6">
            <a:extLst>
              <a:ext uri="{FF2B5EF4-FFF2-40B4-BE49-F238E27FC236}">
                <a16:creationId xmlns:a16="http://schemas.microsoft.com/office/drawing/2014/main" id="{97289182-4FE6-4A18-9775-4588D5801C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458200" y="4306722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Номер телефона</a:t>
            </a:r>
          </a:p>
        </p:txBody>
      </p:sp>
      <p:sp>
        <p:nvSpPr>
          <p:cNvPr id="11" name="Текст 7">
            <a:extLst>
              <a:ext uri="{FF2B5EF4-FFF2-40B4-BE49-F238E27FC236}">
                <a16:creationId xmlns:a16="http://schemas.microsoft.com/office/drawing/2014/main" id="{BD4E94C7-6CAF-4FEE-9E02-D3D3A2AC5E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58200" y="4655739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lnSpc>
                <a:spcPct val="50000"/>
              </a:lnSpc>
              <a:buNone/>
              <a:defRPr sz="16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Электронная почта или контакт в социальной сети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0DE421A3-3C59-48FC-BC3B-007ADFBEB4F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58200" y="5004756"/>
            <a:ext cx="2910342" cy="316800"/>
          </a:xfrm>
          <a:solidFill>
            <a:schemeClr val="tx1">
              <a:lumMod val="75000"/>
              <a:lumOff val="25000"/>
            </a:schemeClr>
          </a:solidFill>
        </p:spPr>
        <p:txBody>
          <a:bodyPr rIns="72000" rtlCol="0" anchor="ctr"/>
          <a:lstStyle>
            <a:lvl1pPr marL="0" indent="0" algn="r">
              <a:buNone/>
              <a:defRPr sz="1600">
                <a:solidFill>
                  <a:schemeClr val="bg1"/>
                </a:solidFill>
              </a:defRPr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Веб-сайт компании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504A767-1C0B-484E-BF7D-CD42D30A52EE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A13D8A8-6C3D-4527-959D-41C3213F7F0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C0FBB1B-4F0E-4365-BF27-3150FC6C3B90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1DD44D8-4A8F-4693-B90A-166855B29D25}"/>
              </a:ext>
            </a:extLst>
          </p:cNvPr>
          <p:cNvSpPr/>
          <p:nvPr userDrawn="1"/>
        </p:nvSpPr>
        <p:spPr>
          <a:xfrm>
            <a:off x="8458200" y="2685912"/>
            <a:ext cx="3733800" cy="11482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22FB6A7-1E80-487C-93E6-DCAA8751EF2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049663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E97A9A62-1AA6-47A9-A1A0-54196823744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E8FE0EB3-0FF4-4285-B9D3-90A5751B7BB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DE0AAD-6FBD-416B-A91A-21F2B737919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734501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Два 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EE479C-D1F6-4BAC-80D2-90EF74E326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7" name="Подзаголовок 2">
            <a:extLst>
              <a:ext uri="{FF2B5EF4-FFF2-40B4-BE49-F238E27FC236}">
                <a16:creationId xmlns:a16="http://schemas.microsoft.com/office/drawing/2014/main" id="{7DEBF36F-ADC5-48FF-BFAF-3BED06924FD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22238F2-C6EC-476F-8371-119AECBA56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2000" y="1512000"/>
            <a:ext cx="5472000" cy="4680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6" name="Текст 4">
            <a:extLst>
              <a:ext uri="{FF2B5EF4-FFF2-40B4-BE49-F238E27FC236}">
                <a16:creationId xmlns:a16="http://schemas.microsoft.com/office/drawing/2014/main" id="{7867C73D-EE16-41D1-B7CE-A35C765E3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99887" y="1511250"/>
            <a:ext cx="5472113" cy="468000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7847F90-9DB6-4832-9EB7-393AADAE8B7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64CFC6C-1D8B-46C9-B0F7-A8BD88D8AB46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8915521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 столбц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9" name="Подзаголовок 2">
            <a:extLst>
              <a:ext uri="{FF2B5EF4-FFF2-40B4-BE49-F238E27FC236}">
                <a16:creationId xmlns:a16="http://schemas.microsoft.com/office/drawing/2014/main" id="{F94EB5D3-F8CB-4E76-8D7E-FF441818EEC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360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6A38E24-EB1C-472F-B631-5DF32F9C4CF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301550" y="1511476"/>
            <a:ext cx="3600450" cy="4679249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5B4A252E-78C9-4F76-98A4-A4B580AD07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171550" y="1511475"/>
            <a:ext cx="3600450" cy="467925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D4BCA97-F31B-451D-82F8-6E000DF2118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17AAC4-A657-4D75-A527-0307AFF2B17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26543880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 столбцов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FF4C50-933F-41F9-AD11-BD02410AA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32000"/>
            <a:ext cx="11340000" cy="43200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10" name="Подзаголовок 2">
            <a:extLst>
              <a:ext uri="{FF2B5EF4-FFF2-40B4-BE49-F238E27FC236}">
                <a16:creationId xmlns:a16="http://schemas.microsoft.com/office/drawing/2014/main" id="{9D7ACCB5-9A86-4F46-89E2-B79F48C9EC1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1948E38-8FB0-4E51-A01C-C88794372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1512000"/>
            <a:ext cx="2160000" cy="4679250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F5B3657-F2AE-455A-BF81-1A0C2ACECD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26412" y="1512000"/>
            <a:ext cx="2160588" cy="467925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3" name="Текст 5">
            <a:extLst>
              <a:ext uri="{FF2B5EF4-FFF2-40B4-BE49-F238E27FC236}">
                <a16:creationId xmlns:a16="http://schemas.microsoft.com/office/drawing/2014/main" id="{6A983D98-E0AB-429A-9EC2-B50D4216D6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1412" y="1512000"/>
            <a:ext cx="2160588" cy="467925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755213BF-EF6D-45DC-A01B-DE6C2F23A6D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316412" y="1507535"/>
            <a:ext cx="2160588" cy="4679250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17" name="Текст 7">
            <a:extLst>
              <a:ext uri="{FF2B5EF4-FFF2-40B4-BE49-F238E27FC236}">
                <a16:creationId xmlns:a16="http://schemas.microsoft.com/office/drawing/2014/main" id="{77D6BBBA-F4A3-45D4-91BC-A405FFDC7C3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611412" y="1507535"/>
            <a:ext cx="2160588" cy="4683715"/>
          </a:xfrm>
        </p:spPr>
        <p:txBody>
          <a:bodyPr rtlCol="0"/>
          <a:lstStyle/>
          <a:p>
            <a:pPr lvl="0" rtl="0"/>
            <a:r>
              <a:rPr lang="ru-RU" noProof="0"/>
              <a:t>Образец текста</a:t>
            </a:r>
          </a:p>
          <a:p>
            <a:pPr lvl="1" rtl="0"/>
            <a:r>
              <a:rPr lang="ru-RU" noProof="0"/>
              <a:t>Второй уровень</a:t>
            </a:r>
          </a:p>
          <a:p>
            <a:pPr lvl="2" rtl="0"/>
            <a:r>
              <a:rPr lang="ru-RU" noProof="0"/>
              <a:t>Третий уровень</a:t>
            </a:r>
          </a:p>
          <a:p>
            <a:pPr lvl="3" rtl="0"/>
            <a:r>
              <a:rPr lang="ru-RU" noProof="0"/>
              <a:t>Четвертый уровень</a:t>
            </a:r>
          </a:p>
          <a:p>
            <a:pPr lvl="4" rtl="0"/>
            <a:r>
              <a:rPr lang="ru-RU" noProof="0"/>
              <a:t>Пятый уровень</a:t>
            </a:r>
            <a:endParaRPr lang="ru-RU" noProof="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D09234E-176D-4BBF-9391-7B6F018C51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09ABD5E-B8F1-4246-B167-09138760AD7D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9748372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10727B06-56A8-44A2-B6C2-9ED183D107F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31800" y="1008000"/>
            <a:ext cx="11339513" cy="360000"/>
          </a:xfrm>
        </p:spPr>
        <p:txBody>
          <a:bodyPr rtlCol="0"/>
          <a:lstStyle>
            <a:lvl1pPr marL="0" indent="0">
              <a:buNone/>
              <a:defRPr/>
            </a:lvl1pPr>
            <a:lvl2pPr marL="266700" indent="0">
              <a:buNone/>
              <a:defRPr/>
            </a:lvl2pPr>
            <a:lvl3pPr marL="542925" indent="0">
              <a:buNone/>
              <a:defRPr/>
            </a:lvl3pPr>
            <a:lvl4pPr marL="809625" indent="0">
              <a:buNone/>
              <a:defRPr/>
            </a:lvl4pPr>
            <a:lvl5pPr marL="1076325" indent="0">
              <a:buNone/>
              <a:defRPr/>
            </a:lvl5pPr>
          </a:lstStyle>
          <a:p>
            <a:pPr lvl="0" rtl="0"/>
            <a:r>
              <a:rPr lang="ru-RU" noProof="0" dirty="0"/>
              <a:t>Подзаголовок</a:t>
            </a:r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8CCB8C2-B6A2-4C69-8D3A-57420A034BA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3CF994-8B2C-443F-B695-7378DD360DAA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5058552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ижний колонтитул 1">
            <a:extLst>
              <a:ext uri="{FF2B5EF4-FFF2-40B4-BE49-F238E27FC236}">
                <a16:creationId xmlns:a16="http://schemas.microsoft.com/office/drawing/2014/main" id="{16D0504D-4610-4E9E-A2DB-8B701F044BB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 rtlCol="0"/>
          <a:lstStyle/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A95CDFA7-DEA3-4BBE-8D70-0AF654A1E6F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0694D9D-C633-4D52-965E-E5BBD9883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noProof="0"/>
              <a:t>Образец заголовка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139767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EB0D177-9AA4-42F4-9CD7-CD206217CA6D}"/>
              </a:ext>
            </a:extLst>
          </p:cNvPr>
          <p:cNvSpPr/>
          <p:nvPr userDrawn="1"/>
        </p:nvSpPr>
        <p:spPr>
          <a:xfrm>
            <a:off x="9780101" y="6371351"/>
            <a:ext cx="1979897" cy="43199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C825DB53-D610-4A40-AFDC-EBC47DB613CE}"/>
              </a:ext>
            </a:extLst>
          </p:cNvPr>
          <p:cNvSpPr/>
          <p:nvPr userDrawn="1"/>
        </p:nvSpPr>
        <p:spPr>
          <a:xfrm>
            <a:off x="9780103" y="6803351"/>
            <a:ext cx="1979897" cy="546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31" name="Полилиния: Фигура 30">
            <a:extLst>
              <a:ext uri="{FF2B5EF4-FFF2-40B4-BE49-F238E27FC236}">
                <a16:creationId xmlns:a16="http://schemas.microsoft.com/office/drawing/2014/main" id="{C2B9A6A4-83D0-40B1-8B15-964C84BF0705}"/>
              </a:ext>
            </a:extLst>
          </p:cNvPr>
          <p:cNvSpPr/>
          <p:nvPr userDrawn="1"/>
        </p:nvSpPr>
        <p:spPr>
          <a:xfrm>
            <a:off x="0" y="6371351"/>
            <a:ext cx="9780102" cy="432000"/>
          </a:xfrm>
          <a:custGeom>
            <a:avLst/>
            <a:gdLst>
              <a:gd name="connsiteX0" fmla="*/ 0 w 9780102"/>
              <a:gd name="connsiteY0" fmla="*/ 0 h 432000"/>
              <a:gd name="connsiteX1" fmla="*/ 9780102 w 9780102"/>
              <a:gd name="connsiteY1" fmla="*/ 0 h 432000"/>
              <a:gd name="connsiteX2" fmla="*/ 9780102 w 9780102"/>
              <a:gd name="connsiteY2" fmla="*/ 432000 h 432000"/>
              <a:gd name="connsiteX3" fmla="*/ 0 w 9780102"/>
              <a:gd name="connsiteY3" fmla="*/ 432000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780102" h="432000">
                <a:moveTo>
                  <a:pt x="0" y="0"/>
                </a:moveTo>
                <a:lnTo>
                  <a:pt x="9780102" y="0"/>
                </a:lnTo>
                <a:lnTo>
                  <a:pt x="9780102" y="432000"/>
                </a:lnTo>
                <a:lnTo>
                  <a:pt x="0" y="432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80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rtl="0"/>
            <a:r>
              <a:rPr lang="ru-RU" noProof="0" dirty="0"/>
              <a:t>Щелкните, чтобы изменить заголовок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12000"/>
            <a:ext cx="11328000" cy="467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 rtl="0"/>
            <a:r>
              <a:rPr lang="ru-RU" noProof="0" dirty="0"/>
              <a:t>Образец текста</a:t>
            </a:r>
          </a:p>
          <a:p>
            <a:pPr lvl="1" rtl="0"/>
            <a:r>
              <a:rPr lang="ru-RU" noProof="0" dirty="0"/>
              <a:t>Второй уровень</a:t>
            </a:r>
          </a:p>
          <a:p>
            <a:pPr lvl="2" rtl="0"/>
            <a:r>
              <a:rPr lang="ru-RU" noProof="0" dirty="0"/>
              <a:t>Третий уровень</a:t>
            </a:r>
          </a:p>
          <a:p>
            <a:pPr lvl="3" rtl="0"/>
            <a:r>
              <a:rPr lang="ru-RU" noProof="0" dirty="0"/>
              <a:t>Четвертый уровень</a:t>
            </a:r>
          </a:p>
          <a:p>
            <a:pPr lvl="4" rtl="0"/>
            <a:r>
              <a:rPr lang="ru-RU" noProof="0" dirty="0"/>
              <a:t>Пятый уровень</a:t>
            </a:r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439820"/>
            <a:ext cx="5664000" cy="295062"/>
          </a:xfrm>
          <a:prstGeom prst="rect">
            <a:avLst/>
          </a:prstGeom>
          <a:noFill/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ru-RU" noProof="0" dirty="0"/>
              <a:t>Добавить нижний колонтитул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ECA3099-A94F-4C3E-BC29-780EDD38F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760000" y="6371351"/>
            <a:ext cx="432000" cy="432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fld id="{19B51A1E-902D-48AF-9020-955120F399B6}" type="slidenum">
              <a:rPr lang="ru-RU" noProof="0" smtClean="0"/>
              <a:pPr/>
              <a:t>‹#›</a:t>
            </a:fld>
            <a:endParaRPr lang="ru-RU" noProof="0" dirty="0"/>
          </a:p>
        </p:txBody>
      </p:sp>
      <p:sp>
        <p:nvSpPr>
          <p:cNvPr id="4" name="Надпись 3">
            <a:extLst>
              <a:ext uri="{FF2B5EF4-FFF2-40B4-BE49-F238E27FC236}">
                <a16:creationId xmlns:a16="http://schemas.microsoft.com/office/drawing/2014/main" id="{34FDC6F9-37F9-4E25-AECA-D307B8421C73}"/>
              </a:ext>
            </a:extLst>
          </p:cNvPr>
          <p:cNvSpPr txBox="1"/>
          <p:nvPr userDrawn="1"/>
        </p:nvSpPr>
        <p:spPr>
          <a:xfrm>
            <a:off x="10243100" y="6422491"/>
            <a:ext cx="1053900" cy="380860"/>
          </a:xfrm>
          <a:prstGeom prst="rect">
            <a:avLst/>
          </a:prstGeom>
          <a:noFill/>
        </p:spPr>
        <p:txBody>
          <a:bodyPr wrap="square" tIns="108000" bIns="0" rtlCol="0" anchor="ctr">
            <a:spAutoFit/>
          </a:bodyPr>
          <a:lstStyle/>
          <a:p>
            <a:pPr algn="r" rtl="0">
              <a:lnSpc>
                <a:spcPts val="1000"/>
              </a:lnSpc>
            </a:pPr>
            <a:r>
              <a:rPr lang="ru-RU" sz="2500" b="1" i="0" spc="-100" noProof="0" dirty="0">
                <a:solidFill>
                  <a:schemeClr val="accent1"/>
                </a:solidFill>
                <a:latin typeface="+mj-lt"/>
              </a:rPr>
              <a:t>TREY</a:t>
            </a:r>
            <a:r>
              <a:rPr lang="ru-RU" sz="1600" b="1" i="0" spc="-100" noProof="0" dirty="0">
                <a:solidFill>
                  <a:schemeClr val="accent1"/>
                </a:solidFill>
                <a:latin typeface="+mj-lt"/>
              </a:rPr>
              <a:t> </a:t>
            </a:r>
            <a:br>
              <a:rPr lang="ru-RU" sz="1600" b="1" i="0" spc="-100" baseline="0" noProof="0" dirty="0">
                <a:solidFill>
                  <a:schemeClr val="accent1"/>
                </a:solidFill>
                <a:latin typeface="+mj-lt"/>
              </a:rPr>
            </a:br>
            <a:r>
              <a:rPr lang="ru-RU" sz="1200" b="0" i="0" spc="140" noProof="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research</a:t>
            </a:r>
            <a:endParaRPr lang="ru-RU" sz="1200" b="0" i="0" spc="140" noProof="0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BC39664-EB8B-4A32-915A-D4308F792772}"/>
              </a:ext>
            </a:extLst>
          </p:cNvPr>
          <p:cNvSpPr/>
          <p:nvPr userDrawn="1"/>
        </p:nvSpPr>
        <p:spPr>
          <a:xfrm>
            <a:off x="0" y="6803351"/>
            <a:ext cx="9780104" cy="546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9B49670D-8F18-44A8-B217-67B412095C0D}"/>
              </a:ext>
            </a:extLst>
          </p:cNvPr>
          <p:cNvSpPr/>
          <p:nvPr userDrawn="1"/>
        </p:nvSpPr>
        <p:spPr>
          <a:xfrm>
            <a:off x="11760000" y="6803351"/>
            <a:ext cx="432000" cy="5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ru-RU" noProof="0" dirty="0"/>
          </a:p>
        </p:txBody>
      </p:sp>
      <p:cxnSp>
        <p:nvCxnSpPr>
          <p:cNvPr id="18" name="Прямая соединительная линия 17">
            <a:extLst>
              <a:ext uri="{FF2B5EF4-FFF2-40B4-BE49-F238E27FC236}">
                <a16:creationId xmlns:a16="http://schemas.microsoft.com/office/drawing/2014/main" id="{030FA059-EC32-4FFF-9673-48849B2FA43A}"/>
              </a:ext>
            </a:extLst>
          </p:cNvPr>
          <p:cNvCxnSpPr>
            <a:cxnSpLocks/>
          </p:cNvCxnSpPr>
          <p:nvPr userDrawn="1"/>
        </p:nvCxnSpPr>
        <p:spPr>
          <a:xfrm flipH="1">
            <a:off x="1" y="6371351"/>
            <a:ext cx="12191999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3" r:id="rId3"/>
    <p:sldLayoutId id="2147483658" r:id="rId4"/>
    <p:sldLayoutId id="2147483666" r:id="rId5"/>
    <p:sldLayoutId id="2147483659" r:id="rId6"/>
    <p:sldLayoutId id="2147483660" r:id="rId7"/>
    <p:sldLayoutId id="2147483664" r:id="rId8"/>
    <p:sldLayoutId id="2147483650" r:id="rId9"/>
    <p:sldLayoutId id="2147483652" r:id="rId10"/>
    <p:sldLayoutId id="2147483656" r:id="rId11"/>
    <p:sldLayoutId id="2147483657" r:id="rId12"/>
    <p:sldLayoutId id="2147483654" r:id="rId13"/>
    <p:sldLayoutId id="2147483655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 spc="-15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542925" indent="-276225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8096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0763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343025" indent="-2667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atalens.yandex/agge1svchk9mt?_share_link=public" TargetMode="External"/><Relationship Id="rId4" Type="http://schemas.openxmlformats.org/officeDocument/2006/relationships/hyperlink" Target="https://github.com/nadezhdavol/hse_final_project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ilcaniaabreu/hr-attrition-analysis-and-report/data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datalens.yandex/agge1svchk9mt?_share_link=public" TargetMode="External"/><Relationship Id="rId4" Type="http://schemas.openxmlformats.org/officeDocument/2006/relationships/hyperlink" Target="https://github.com/nadezhdavol/hse_final_projec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Круг из сцепленных рук">
            <a:extLst>
              <a:ext uri="{FF2B5EF4-FFF2-40B4-BE49-F238E27FC236}">
                <a16:creationId xmlns:a16="http://schemas.microsoft.com/office/drawing/2014/main" id="{AA8A1CBA-9BB5-2246-9F4B-98EAD7C9015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9465" y="2790908"/>
            <a:ext cx="7532536" cy="1942841"/>
          </a:xfrm>
        </p:spPr>
        <p:txBody>
          <a:bodyPr rtlCol="0" anchor="b"/>
          <a:lstStyle/>
          <a:p>
            <a:pPr rtl="0">
              <a:lnSpc>
                <a:spcPct val="100000"/>
              </a:lnSpc>
            </a:pPr>
            <a:r>
              <a:rPr kumimoji="0" lang="ru-RU" sz="3200" i="0" u="none" strike="noStrike" kern="1200" cap="none" spc="-300" normalizeH="0" baseline="0" noProof="0" dirty="0">
                <a:ln>
                  <a:noFill/>
                </a:ln>
                <a:solidFill>
                  <a:srgbClr val="0F1115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Анализ и прогнозирование оттока сотрудников: </a:t>
            </a:r>
            <a:r>
              <a:rPr kumimoji="0" lang="ru-RU" sz="2800" i="0" u="none" strike="noStrike" kern="1200" cap="none" spc="-30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интеграция </a:t>
            </a:r>
            <a:r>
              <a:rPr kumimoji="0" lang="ru-RU" sz="2800" i="0" u="none" strike="noStrike" kern="1200" cap="none" spc="-300" normalizeH="0" baseline="0" noProof="0" dirty="0" err="1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поколенческий</a:t>
            </a:r>
            <a:r>
              <a:rPr kumimoji="0" lang="ru-RU" sz="2800" i="0" u="none" strike="noStrike" kern="1200" cap="none" spc="-30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, поведенческих и сезонных факторов в классическую </a:t>
            </a:r>
            <a:r>
              <a:rPr kumimoji="0" lang="en-US" sz="2800" i="0" u="none" strike="noStrike" kern="1200" cap="none" spc="-30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HR-</a:t>
            </a:r>
            <a:r>
              <a:rPr kumimoji="0" lang="ru-RU" sz="2800" i="0" u="none" strike="noStrike" kern="1200" cap="none" spc="-300" normalizeH="0" baseline="0" noProof="0" dirty="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модель.</a:t>
            </a:r>
            <a:endParaRPr lang="ru-RU" sz="1400" dirty="0">
              <a:solidFill>
                <a:schemeClr val="tx1">
                  <a:lumMod val="85000"/>
                  <a:lumOff val="1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Подзаголовок 3">
            <a:extLst>
              <a:ext uri="{FF2B5EF4-FFF2-40B4-BE49-F238E27FC236}">
                <a16:creationId xmlns:a16="http://schemas.microsoft.com/office/drawing/2014/main" id="{4772945D-CA91-4CFE-8EB7-941C7618C9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9" y="4733748"/>
            <a:ext cx="6643315" cy="1942841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algn="l"/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Итоговый проект курса «Аналитик данных» НИУ ВШЭ.</a:t>
            </a:r>
          </a:p>
          <a:p>
            <a:pPr algn="l"/>
            <a:r>
              <a:rPr lang="ru-RU" sz="1800" b="1" i="0" dirty="0">
                <a:solidFill>
                  <a:schemeClr val="tx1"/>
                </a:solidFill>
                <a:effectLst/>
                <a:latin typeface="Mona Sans VF"/>
              </a:rPr>
              <a:t>Автор: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 Володина Надежда</a:t>
            </a:r>
            <a:b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</a:br>
            <a:r>
              <a:rPr lang="ru-RU" sz="1800" b="1" i="0" dirty="0">
                <a:solidFill>
                  <a:schemeClr val="tx1"/>
                </a:solidFill>
                <a:effectLst/>
                <a:latin typeface="Mona Sans VF"/>
              </a:rPr>
              <a:t>Научный руководитель: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 </a:t>
            </a:r>
            <a:r>
              <a:rPr lang="ru-RU" sz="1800" b="0" i="0" dirty="0" err="1">
                <a:solidFill>
                  <a:schemeClr val="tx1"/>
                </a:solidFill>
                <a:effectLst/>
                <a:latin typeface="Mona Sans VF"/>
              </a:rPr>
              <a:t>Паточенко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 Евгений</a:t>
            </a:r>
            <a:b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</a:br>
            <a:r>
              <a:rPr lang="ru-RU" sz="1800" b="1" i="0" dirty="0">
                <a:solidFill>
                  <a:schemeClr val="tx1"/>
                </a:solidFill>
                <a:effectLst/>
                <a:latin typeface="Mona Sans VF"/>
              </a:rPr>
              <a:t>Дата:</a:t>
            </a:r>
            <a:r>
              <a:rPr lang="ru-RU" sz="1800" b="0" i="0" dirty="0">
                <a:solidFill>
                  <a:schemeClr val="tx1"/>
                </a:solidFill>
                <a:effectLst/>
                <a:latin typeface="Mona Sans VF"/>
              </a:rPr>
              <a:t> октябрь 2026</a:t>
            </a:r>
          </a:p>
          <a:p>
            <a:pPr algn="l">
              <a:lnSpc>
                <a:spcPct val="100000"/>
              </a:lnSpc>
            </a:pP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Ссылка на репозиторий проекта </a:t>
            </a: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 здесь</a:t>
            </a:r>
            <a:endParaRPr lang="ru-RU" sz="1100" b="0" i="0" dirty="0">
              <a:solidFill>
                <a:srgbClr val="0F1115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00000"/>
              </a:lnSpc>
            </a:pP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Ссылка на </a:t>
            </a:r>
            <a:r>
              <a:rPr lang="ru-RU" sz="1100" dirty="0" err="1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дашборд</a:t>
            </a: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>
                <a:solidFill>
                  <a:srgbClr val="0F1115"/>
                </a:solidFill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 здесь</a:t>
            </a:r>
            <a:endParaRPr lang="ru-RU" sz="1100" b="0" i="0" dirty="0">
              <a:solidFill>
                <a:srgbClr val="0F1115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endParaRPr lang="ru-RU" sz="1600" b="0" i="0" dirty="0">
              <a:solidFill>
                <a:schemeClr val="tx1"/>
              </a:solidFill>
              <a:effectLst/>
              <a:latin typeface="Mona Sans VF"/>
            </a:endParaRPr>
          </a:p>
          <a:p>
            <a:pPr rtl="0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89923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ru-RU" sz="5400" dirty="0"/>
              <a:t>Основные задачи проекта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1674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8633" y="532738"/>
            <a:ext cx="5499673" cy="4524292"/>
          </a:xfrm>
        </p:spPr>
        <p:txBody>
          <a:bodyPr rtlCol="0"/>
          <a:lstStyle/>
          <a:p>
            <a:pPr marL="0" indent="0" algn="l">
              <a:buNone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Почему это важно:</a:t>
            </a:r>
          </a:p>
          <a:p>
            <a:pPr marL="0" indent="0" algn="l">
              <a:buNone/>
            </a:pPr>
            <a:endParaRPr lang="ru-RU" sz="20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Отток сотрудников — дорого.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Замена одного сотрудника стоит 50-200% его годовой зарплаты.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Классические HR-модели устарели.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Учитывают демографию и зарплату, но не учитывают, как сотрудник себя чувствует.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Поколение Z выходит на рынок.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Их мотивация отличается от миллениалов и X.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1" i="0" dirty="0">
                <a:solidFill>
                  <a:srgbClr val="0F1115"/>
                </a:solidFill>
                <a:effectLst/>
                <a:latin typeface="quote-cjk-patch"/>
              </a:rPr>
              <a:t>Стоимость ошибки велика: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не найти уходящего = потерять ценного специалиста; найти «ложного уходящего» = потратить бюджет на удержание без причины.</a:t>
            </a:r>
          </a:p>
        </p:txBody>
      </p:sp>
      <p:pic>
        <p:nvPicPr>
          <p:cNvPr id="9" name="Рисунок 8" descr="Рука прикасается к мобильному телефону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1043" y="3802898"/>
            <a:ext cx="5398957" cy="1429059"/>
          </a:xfrm>
        </p:spPr>
        <p:txBody>
          <a:bodyPr rtlCol="0"/>
          <a:lstStyle/>
          <a:p>
            <a:pPr algn="l"/>
            <a:r>
              <a:rPr lang="ru-RU" sz="5400" b="1" dirty="0">
                <a:solidFill>
                  <a:srgbClr val="0F1115"/>
                </a:solidFill>
                <a:effectLst/>
                <a:latin typeface="quote-cjk-patch"/>
              </a:rPr>
              <a:t>Проблема и актуальность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060758" y="5231956"/>
            <a:ext cx="4699242" cy="718743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297466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 descr="Рука прикасается к мобильному телефону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1043" y="3802898"/>
            <a:ext cx="5398957" cy="1429059"/>
          </a:xfrm>
        </p:spPr>
        <p:txBody>
          <a:bodyPr rtlCol="0"/>
          <a:lstStyle/>
          <a:p>
            <a:pPr algn="l"/>
            <a:r>
              <a:rPr kumimoji="0" lang="ru-RU" altLang="ru-RU" sz="5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Цель проекта</a:t>
            </a:r>
            <a:endParaRPr lang="ru-RU" sz="5400" b="1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060758" y="5231956"/>
            <a:ext cx="4699242" cy="718743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4</a:t>
            </a:fld>
            <a:endParaRPr lang="ru-RU" dirty="0"/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4FBD301C-D893-C8B1-154D-E3DEACDB2AF6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270344" y="77947"/>
            <a:ext cx="5454595" cy="51872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92046" rIns="0" bIns="9204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Цель: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sz="1200" b="1" dirty="0">
              <a:solidFill>
                <a:srgbClr val="0F1115"/>
              </a:solidFill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Построить модель прогнозирования оттока,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которая расширяет классический подход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тремя слоями: поведенческим, </a:t>
            </a:r>
            <a:r>
              <a:rPr kumimoji="0" lang="ru-RU" altLang="ru-RU" sz="18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поколенческим</a:t>
            </a:r>
            <a:r>
              <a:rPr kumimoji="0" lang="ru-RU" altLang="ru-RU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сезонным.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ru-RU" altLang="ru-RU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Проверить, улучшают ли эти слои качество прогноза и делают ли модель более объяснимой.</a:t>
            </a:r>
            <a:endParaRPr kumimoji="0" lang="ru-RU" altLang="ru-RU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2000" b="1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Задачи: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Провести EDA и выявить закономерности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Создать новые признаки (Generation,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Season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_</a:t>
            </a:r>
            <a:r>
              <a:rPr kumimoji="0" lang="en-US" altLang="ru-RU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of_birth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kumimoji="0" lang="ru-RU" altLang="ru-RU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Overall_Satisfaction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Построить классическую и расширенную модели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Сравнить их качество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Сформулировать рекомендации для HR</a:t>
            </a:r>
          </a:p>
        </p:txBody>
      </p:sp>
    </p:spTree>
    <p:extLst>
      <p:ext uri="{BB962C8B-B14F-4D97-AF65-F5344CB8AC3E}">
        <p14:creationId xmlns:p14="http://schemas.microsoft.com/office/powerpoint/2010/main" val="1008512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ru-RU" sz="5400" dirty="0"/>
              <a:t>Данные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3339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100" y="1869795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ru-RU" sz="6000" dirty="0"/>
              <a:t>Данные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dirty="0">
                <a:solidFill>
                  <a:schemeClr val="tx1"/>
                </a:solidFill>
                <a:latin typeface="quote-cjk-patch"/>
              </a:rPr>
              <a:t>С чем имеем дело</a:t>
            </a:r>
            <a:r>
              <a:rPr lang="ru-RU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591631" y="3763649"/>
            <a:ext cx="5168369" cy="2319100"/>
          </a:xfrm>
        </p:spPr>
        <p:txBody>
          <a:bodyPr rtlCol="0"/>
          <a:lstStyle/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Источник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: 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HR-</a:t>
            </a:r>
            <a:r>
              <a:rPr lang="ru-RU" sz="1600" b="0" i="0" dirty="0" err="1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Employee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-</a:t>
            </a:r>
            <a:r>
              <a:rPr lang="ru-RU" sz="1600" b="0" i="0" dirty="0" err="1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Attrition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 (</a:t>
            </a:r>
            <a:r>
              <a:rPr lang="ru-RU" sz="1600" b="0" i="0" dirty="0" err="1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Kaggle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  <a:hlinkClick r:id="rId3"/>
              </a:rPr>
              <a:t>)</a:t>
            </a:r>
            <a:endParaRPr lang="ru-RU" sz="1600" b="0" i="0" dirty="0">
              <a:solidFill>
                <a:srgbClr val="0F1115"/>
              </a:solidFill>
              <a:effectLst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Размер: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1470</a:t>
            </a: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записей,</a:t>
            </a: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35 признаков</a:t>
            </a: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Целевая переменная: </a:t>
            </a:r>
            <a:r>
              <a:rPr lang="ru-RU" sz="1600" i="0" dirty="0" err="1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Attrition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(</a:t>
            </a:r>
            <a:r>
              <a:rPr lang="en-US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Yes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/</a:t>
            </a:r>
            <a:r>
              <a:rPr lang="en-US" sz="1600" dirty="0">
                <a:solidFill>
                  <a:srgbClr val="0F1115"/>
                </a:solidFill>
                <a:cs typeface="Arial" panose="020B0604020202020204" pitchFamily="34" charset="0"/>
              </a:rPr>
              <a:t>No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)</a:t>
            </a: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Дисбаланс классов:</a:t>
            </a:r>
            <a:r>
              <a:rPr lang="ru-RU" sz="1600" b="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ru-RU" sz="1600" i="0" dirty="0">
                <a:solidFill>
                  <a:srgbClr val="0F1115"/>
                </a:solidFill>
                <a:effectLst/>
                <a:cs typeface="Arial" panose="020B0604020202020204" pitchFamily="34" charset="0"/>
              </a:rPr>
              <a:t>16.1% ушедших / 83.9% оставшихся</a:t>
            </a:r>
          </a:p>
          <a:p>
            <a:pPr algn="l">
              <a:buFont typeface="+mj-lt"/>
              <a:buAutoNum type="arabicPeriod"/>
            </a:pP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6</a:t>
            </a:fld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398C55-A7CC-B9F9-E46B-7D9522AE2EDC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4"/>
          <a:srcRect l="18104" r="18104"/>
          <a:stretch>
            <a:fillRect/>
          </a:stretch>
        </p:blipFill>
        <p:spPr>
          <a:xfrm>
            <a:off x="163445" y="206678"/>
            <a:ext cx="3518010" cy="3041057"/>
          </a:xfrm>
        </p:spPr>
      </p:pic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A88FB2F8-B313-0522-49E7-FE622FA4E5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9626008"/>
              </p:ext>
            </p:extLst>
          </p:nvPr>
        </p:nvGraphicFramePr>
        <p:xfrm>
          <a:off x="163446" y="4329191"/>
          <a:ext cx="5792081" cy="1880776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617375">
                  <a:extLst>
                    <a:ext uri="{9D8B030D-6E8A-4147-A177-3AD203B41FA5}">
                      <a16:colId xmlns:a16="http://schemas.microsoft.com/office/drawing/2014/main" val="3266805833"/>
                    </a:ext>
                  </a:extLst>
                </a:gridCol>
                <a:gridCol w="4174706">
                  <a:extLst>
                    <a:ext uri="{9D8B030D-6E8A-4147-A177-3AD203B41FA5}">
                      <a16:colId xmlns:a16="http://schemas.microsoft.com/office/drawing/2014/main" val="2824854926"/>
                    </a:ext>
                  </a:extLst>
                </a:gridCol>
              </a:tblGrid>
              <a:tr h="336856"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lt1"/>
                          </a:solidFill>
                          <a:effectLst/>
                        </a:rPr>
                        <a:t>Группа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lt1"/>
                          </a:solidFill>
                          <a:effectLst/>
                        </a:rPr>
                        <a:t>Примеры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061486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Демография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Age, Gender,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MaritalStatus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439846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Структура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Department,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JobRole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JobLevel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760002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Компенсация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MonthlyIncome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StockOptionLevel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1617197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Поведение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OverTime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JobSatisfaction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WorkLifeBalance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45865"/>
                  </a:ext>
                </a:extLst>
              </a:tr>
              <a:tr h="308784">
                <a:tc>
                  <a:txBody>
                    <a:bodyPr/>
                    <a:lstStyle/>
                    <a:p>
                      <a:r>
                        <a:rPr lang="ru-RU" sz="1400" b="0" kern="1200" dirty="0">
                          <a:solidFill>
                            <a:schemeClr val="dk1"/>
                          </a:solidFill>
                          <a:effectLst/>
                        </a:rPr>
                        <a:t>Стаж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YearsAtCompany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</a:rPr>
                        <a:t>,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</a:rPr>
                        <a:t>TotalWorkingYears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662016"/>
                  </a:ext>
                </a:extLst>
              </a:tr>
            </a:tbl>
          </a:graphicData>
        </a:graphic>
      </p:graphicFrame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3BD692-A3A1-F097-A504-DA4671F3200F}"/>
              </a:ext>
            </a:extLst>
          </p:cNvPr>
          <p:cNvSpPr/>
          <p:nvPr/>
        </p:nvSpPr>
        <p:spPr>
          <a:xfrm>
            <a:off x="163445" y="3843477"/>
            <a:ext cx="3518010" cy="36515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solidFill>
                  <a:schemeClr val="tx1"/>
                </a:solidFill>
              </a:rPr>
              <a:t>Таблица групп признаков</a:t>
            </a:r>
          </a:p>
        </p:txBody>
      </p:sp>
    </p:spTree>
    <p:extLst>
      <p:ext uri="{BB962C8B-B14F-4D97-AF65-F5344CB8AC3E}">
        <p14:creationId xmlns:p14="http://schemas.microsoft.com/office/powerpoint/2010/main" val="7220987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 descr="Рука пишет что-то на стикере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824" y="17620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100" y="1869795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ru-RU" sz="6000" dirty="0"/>
              <a:t>Гипотезы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b="0" i="0" dirty="0">
                <a:solidFill>
                  <a:schemeClr val="tx1"/>
                </a:solidFill>
                <a:effectLst/>
                <a:latin typeface="quote-cjk-patch"/>
              </a:rPr>
              <a:t>Гипотезы, которые я проверяла</a:t>
            </a:r>
            <a:r>
              <a:rPr lang="ru-RU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rtlCol="0"/>
          <a:lstStyle/>
          <a:p>
            <a:pPr algn="l">
              <a:buFont typeface="+mj-lt"/>
              <a:buAutoNum type="arabicPeriod"/>
            </a:pPr>
            <a:r>
              <a:rPr lang="ru-RU" sz="1600" b="1" i="0" dirty="0" err="1">
                <a:solidFill>
                  <a:srgbClr val="0F1115"/>
                </a:solidFill>
                <a:effectLst/>
                <a:latin typeface="quote-cjk-patch"/>
              </a:rPr>
              <a:t>Поколенческая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поколение Z уходит чаще, чем X и Y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Поведенческая: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низкая удовлетворённость и сверхурочная работа — сильные предикторы оттока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Сезонная: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сезон рождения влияет на склонность к смене работы (проверяется как прокси)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32807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Feature Engineering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Созданные признаки</a:t>
            </a:r>
            <a:r>
              <a:rPr lang="en-US" dirty="0">
                <a:solidFill>
                  <a:srgbClr val="0F1115"/>
                </a:solidFill>
                <a:latin typeface="quote-cjk-patch"/>
              </a:rPr>
              <a:t>.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890" y="2317775"/>
            <a:ext cx="5472000" cy="360000"/>
          </a:xfrm>
        </p:spPr>
        <p:txBody>
          <a:bodyPr rtlCol="0"/>
          <a:lstStyle/>
          <a:p>
            <a:pPr rtl="0"/>
            <a:r>
              <a:rPr lang="ru-RU" sz="2000" dirty="0"/>
              <a:t>Таблица созданных признаков</a:t>
            </a:r>
          </a:p>
        </p:txBody>
      </p:sp>
      <p:graphicFrame>
        <p:nvGraphicFramePr>
          <p:cNvPr id="9" name="Объект 8">
            <a:extLst>
              <a:ext uri="{FF2B5EF4-FFF2-40B4-BE49-F238E27FC236}">
                <a16:creationId xmlns:a16="http://schemas.microsoft.com/office/drawing/2014/main" id="{BB0A2F7D-61A7-8A33-C217-8AE1EA91619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776389393"/>
              </p:ext>
            </p:extLst>
          </p:nvPr>
        </p:nvGraphicFramePr>
        <p:xfrm>
          <a:off x="419891" y="2913316"/>
          <a:ext cx="10067880" cy="20960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6676">
                  <a:extLst>
                    <a:ext uri="{9D8B030D-6E8A-4147-A177-3AD203B41FA5}">
                      <a16:colId xmlns:a16="http://schemas.microsoft.com/office/drawing/2014/main" val="446703337"/>
                    </a:ext>
                  </a:extLst>
                </a:gridCol>
                <a:gridCol w="2989690">
                  <a:extLst>
                    <a:ext uri="{9D8B030D-6E8A-4147-A177-3AD203B41FA5}">
                      <a16:colId xmlns:a16="http://schemas.microsoft.com/office/drawing/2014/main" val="1559398839"/>
                    </a:ext>
                  </a:extLst>
                </a:gridCol>
                <a:gridCol w="4651514">
                  <a:extLst>
                    <a:ext uri="{9D8B030D-6E8A-4147-A177-3AD203B41FA5}">
                      <a16:colId xmlns:a16="http://schemas.microsoft.com/office/drawing/2014/main" val="1185249751"/>
                    </a:ext>
                  </a:extLst>
                </a:gridCol>
              </a:tblGrid>
              <a:tr h="395470"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Признак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Что означает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Как создан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882372"/>
                  </a:ext>
                </a:extLst>
              </a:tr>
              <a:tr h="395470"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</a:rPr>
                        <a:t>Generation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</a:rPr>
                        <a:t>X, Y, Z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На основе года рождения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1472341"/>
                  </a:ext>
                </a:extLst>
              </a:tr>
              <a:tr h="395470">
                <a:tc>
                  <a:txBody>
                    <a:bodyPr/>
                    <a:lstStyle/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</a:rPr>
                        <a:t>Season_of_Birth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Зима/Весна/Лето/Осень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На основе месяца рождения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329773"/>
                  </a:ext>
                </a:extLst>
              </a:tr>
              <a:tr h="514127">
                <a:tc>
                  <a:txBody>
                    <a:bodyPr/>
                    <a:lstStyle/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</a:rPr>
                        <a:t>Overall_Satisfaction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Средний индекс 5 шкал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600" b="0" kern="1200" dirty="0">
                          <a:solidFill>
                            <a:schemeClr val="dk1"/>
                          </a:solidFill>
                          <a:effectLst/>
                        </a:rPr>
                        <a:t>JobSat + EnvSat + RelSat + WLB + Involv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9586149"/>
                  </a:ext>
                </a:extLst>
              </a:tr>
              <a:tr h="395470">
                <a:tc>
                  <a:txBody>
                    <a:bodyPr/>
                    <a:lstStyle/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</a:rPr>
                        <a:t>Satisfaction_Level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</a:rPr>
                        <a:t>Low / Medium / High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b="0" kern="1200" dirty="0">
                          <a:solidFill>
                            <a:schemeClr val="dk1"/>
                          </a:solidFill>
                          <a:effectLst/>
                        </a:rPr>
                        <a:t>Категоризация индекса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41128"/>
                  </a:ext>
                </a:extLst>
              </a:tr>
            </a:tbl>
          </a:graphicData>
        </a:graphic>
      </p:graphicFrame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0000" y="1902054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 flipV="1">
            <a:off x="10448014" y="2170706"/>
            <a:ext cx="1323986" cy="272753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  <a:p>
            <a:pPr rtl="0"/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85336" y="2947460"/>
            <a:ext cx="886664" cy="1989658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 </a:t>
            </a: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88837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en-US" sz="5400" dirty="0"/>
              <a:t>EDA</a:t>
            </a:r>
            <a:endParaRPr lang="ru-RU" sz="5400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en-US" dirty="0"/>
              <a:t> 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9216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общая картина оттока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Масштаб проблемы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3647" y="1151023"/>
            <a:ext cx="5472000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0000" y="1902054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8000" y="2252001"/>
            <a:ext cx="5472000" cy="358775"/>
          </a:xfrm>
        </p:spPr>
        <p:txBody>
          <a:bodyPr rtlCol="0"/>
          <a:lstStyle/>
          <a:p>
            <a:pPr rtl="0"/>
            <a:r>
              <a:rPr lang="ru-RU" dirty="0"/>
              <a:t>Ключевые факторы: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02951" y="2947459"/>
            <a:ext cx="5057050" cy="2300402"/>
          </a:xfrm>
        </p:spPr>
        <p:txBody>
          <a:bodyPr rtlCol="0"/>
          <a:lstStyle/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Ушли: 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237 сотрудников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Остались: 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1233 сотрудника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Отток: 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16.1%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rtl="0"/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10</a:t>
            </a:fld>
            <a:endParaRPr lang="ru-RU" dirty="0"/>
          </a:p>
        </p:txBody>
      </p:sp>
      <p:pic>
        <p:nvPicPr>
          <p:cNvPr id="16" name="Объект 15">
            <a:extLst>
              <a:ext uri="{FF2B5EF4-FFF2-40B4-BE49-F238E27FC236}">
                <a16:creationId xmlns:a16="http://schemas.microsoft.com/office/drawing/2014/main" id="{4F9113B3-5A10-E0D8-47B4-CBC893811B2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rcRect/>
          <a:stretch/>
        </p:blipFill>
        <p:spPr>
          <a:xfrm>
            <a:off x="481565" y="2151016"/>
            <a:ext cx="4853760" cy="4522883"/>
          </a:xfrm>
        </p:spPr>
      </p:pic>
    </p:spTree>
    <p:extLst>
      <p:ext uri="{BB962C8B-B14F-4D97-AF65-F5344CB8AC3E}">
        <p14:creationId xmlns:p14="http://schemas.microsoft.com/office/powerpoint/2010/main" val="722855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кто уходит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Портрет уходящего сотрудника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2191830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87293" y="2195550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3270" y="1965400"/>
            <a:ext cx="3069224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506" y="419283"/>
            <a:ext cx="4477751" cy="1679861"/>
          </a:xfrm>
        </p:spPr>
        <p:txBody>
          <a:bodyPr rtlCol="0"/>
          <a:lstStyle/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 полу: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мужчины 17%, женщины 14.8%</a:t>
            </a: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 семейному положению: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одинокие 25.5% </a:t>
            </a:r>
            <a:r>
              <a:rPr lang="ru-RU" sz="1600" b="0" i="0" dirty="0" err="1">
                <a:solidFill>
                  <a:srgbClr val="0F1115"/>
                </a:solidFill>
                <a:effectLst/>
                <a:latin typeface="quote-cjk-patch"/>
              </a:rPr>
              <a:t>vs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женатые 12.5% </a:t>
            </a:r>
            <a:r>
              <a:rPr lang="ru-RU" sz="1600" b="0" i="0" dirty="0" err="1">
                <a:solidFill>
                  <a:srgbClr val="0F1115"/>
                </a:solidFill>
                <a:effectLst/>
                <a:latin typeface="quote-cjk-patch"/>
              </a:rPr>
              <a:t>vs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разведённые 10.1%</a:t>
            </a: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 возрасту: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самый высокий отток до 28 лет</a:t>
            </a: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 департаменту: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Sales 20.6%, HR 19.0%, R&amp;D 13.8%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11</a:t>
            </a:fld>
            <a:endParaRPr lang="ru-RU" dirty="0"/>
          </a:p>
        </p:txBody>
      </p:sp>
      <p:pic>
        <p:nvPicPr>
          <p:cNvPr id="17" name="Объект 16">
            <a:extLst>
              <a:ext uri="{FF2B5EF4-FFF2-40B4-BE49-F238E27FC236}">
                <a16:creationId xmlns:a16="http://schemas.microsoft.com/office/drawing/2014/main" id="{643E86C4-6EEC-4ED3-1E97-70A380C09F2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19583" y="2597917"/>
            <a:ext cx="3934891" cy="3718313"/>
          </a:xfrm>
        </p:spPr>
      </p:pic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88472" y="1389828"/>
            <a:ext cx="2998821" cy="447299"/>
          </a:xfrm>
        </p:spPr>
        <p:txBody>
          <a:bodyPr/>
          <a:lstStyle/>
          <a:p>
            <a:r>
              <a:rPr lang="ru-RU" dirty="0"/>
              <a:t> 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5C876A6-C98B-C240-0823-BEB27F6A8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6631" y="2615871"/>
            <a:ext cx="3560933" cy="3718313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59FEA96D-E64B-9D82-2E70-01E7254F4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6629" y="2597125"/>
            <a:ext cx="3654710" cy="3701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7190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 err="1"/>
              <a:t>поколенческий</a:t>
            </a:r>
            <a:r>
              <a:rPr lang="ru-RU" dirty="0"/>
              <a:t> и сезонный слои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Поколение Z — главный источник оттока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255335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78124" y="2553359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3270" y="1965400"/>
            <a:ext cx="3069224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8124" y="1457149"/>
            <a:ext cx="4477751" cy="1007060"/>
          </a:xfrm>
        </p:spPr>
        <p:txBody>
          <a:bodyPr rtlCol="0"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X: 12.5%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Y: 12.9%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Z: 27.9%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← в 2 раза выше</a:t>
            </a:r>
          </a:p>
          <a:p>
            <a:pPr algn="l"/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12</a:t>
            </a:fld>
            <a:endParaRPr lang="ru-RU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88472" y="1389828"/>
            <a:ext cx="2998821" cy="447299"/>
          </a:xfrm>
        </p:spPr>
        <p:txBody>
          <a:bodyPr/>
          <a:lstStyle/>
          <a:p>
            <a:r>
              <a:rPr lang="ru-RU" dirty="0"/>
              <a:t> </a:t>
            </a:r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A4E507C0-BCDD-9B2D-3175-CA3B727EAEE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813906" y="3135045"/>
            <a:ext cx="5096786" cy="3051053"/>
          </a:xfr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5A783973-ABA2-3DA8-0D5C-421A737C22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896" y="3135045"/>
            <a:ext cx="5694518" cy="2892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743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комбинированные среды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Кто в зоне максимального риска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551876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66520" y="1551876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6520" y="503030"/>
            <a:ext cx="4477751" cy="1007060"/>
          </a:xfrm>
        </p:spPr>
        <p:txBody>
          <a:bodyPr rtlCol="0"/>
          <a:lstStyle/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Группы минимального риска: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Разведённые женщины всех поколений (&lt; 12%)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Женатые мужчины X и Y (&lt; 12%)</a:t>
            </a:r>
          </a:p>
          <a:p>
            <a:pPr algn="l"/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13</a:t>
            </a:fld>
            <a:endParaRPr lang="ru-RU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1545" y="1869606"/>
            <a:ext cx="2935351" cy="2972738"/>
          </a:xfrm>
        </p:spPr>
        <p:txBody>
          <a:bodyPr/>
          <a:lstStyle/>
          <a:p>
            <a:r>
              <a:rPr lang="ru-RU" dirty="0"/>
              <a:t> </a:t>
            </a:r>
          </a:p>
        </p:txBody>
      </p:sp>
      <p:pic>
        <p:nvPicPr>
          <p:cNvPr id="15" name="Объект 14">
            <a:extLst>
              <a:ext uri="{FF2B5EF4-FFF2-40B4-BE49-F238E27FC236}">
                <a16:creationId xmlns:a16="http://schemas.microsoft.com/office/drawing/2014/main" id="{1F2F257D-0A55-FE7C-E1FE-221C1B848D3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450866" y="1885370"/>
            <a:ext cx="8184648" cy="4706125"/>
          </a:xfrm>
        </p:spPr>
      </p:pic>
      <p:sp>
        <p:nvSpPr>
          <p:cNvPr id="18" name="Текст 17">
            <a:extLst>
              <a:ext uri="{FF2B5EF4-FFF2-40B4-BE49-F238E27FC236}">
                <a16:creationId xmlns:a16="http://schemas.microsoft.com/office/drawing/2014/main" id="{B9E2424D-E3BB-4FBA-C4C5-996353AF6C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00701" y="1869605"/>
            <a:ext cx="3197014" cy="1559395"/>
          </a:xfrm>
        </p:spPr>
        <p:txBody>
          <a:bodyPr/>
          <a:lstStyle/>
          <a:p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Топ-3 группы по оттоку: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Одинокие женщины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Z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-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43.8%</a:t>
            </a:r>
            <a:endParaRPr lang="ru-RU" sz="2000" b="1" i="0" dirty="0">
              <a:solidFill>
                <a:srgbClr val="0F1115"/>
              </a:solidFill>
              <a:effectLst/>
              <a:latin typeface="quote-cjk-patch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Одинокие мужчины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Z</a:t>
            </a:r>
            <a:r>
              <a:rPr lang="ru-RU" sz="2000" dirty="0">
                <a:solidFill>
                  <a:srgbClr val="0F1115"/>
                </a:solidFill>
                <a:latin typeface="quote-cjk-patch"/>
              </a:rPr>
              <a:t> -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39.8%</a:t>
            </a:r>
            <a:endParaRPr lang="ru-RU" sz="2000" dirty="0">
              <a:solidFill>
                <a:srgbClr val="0F1115"/>
              </a:solidFill>
              <a:latin typeface="quote-cjk-patch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Одинокие мужчины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X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quote-cjk-patch"/>
              </a:rPr>
              <a:t> -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27.9%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819750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почему уходят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Поведенческие факторы – ключевые для оттока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2191830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87293" y="2195550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3270" y="1965400"/>
            <a:ext cx="3069224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096000" y="726852"/>
            <a:ext cx="4477751" cy="1282295"/>
          </a:xfrm>
        </p:spPr>
        <p:txBody>
          <a:bodyPr rtlCol="0"/>
          <a:lstStyle/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Переработки:</a:t>
            </a:r>
            <a:r>
              <a:rPr lang="ru-RU" sz="160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ключевой фактор оттока</a:t>
            </a:r>
            <a:r>
              <a:rPr lang="ru-RU" sz="1600" i="0" dirty="0">
                <a:solidFill>
                  <a:srgbClr val="0F1115"/>
                </a:solidFill>
                <a:effectLst/>
                <a:latin typeface="quote-cjk-patch"/>
              </a:rPr>
              <a:t> - 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31%</a:t>
            </a:r>
            <a:r>
              <a:rPr lang="ru-RU" sz="1600" dirty="0">
                <a:solidFill>
                  <a:srgbClr val="0F1115"/>
                </a:solidFill>
                <a:latin typeface="quote-cjk-patch"/>
              </a:rPr>
              <a:t> - в 3 раза чаще, чем без них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Удовлетворенность: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с низким уровнем 23%</a:t>
            </a:r>
          </a:p>
          <a:p>
            <a:pPr algn="l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Баланс: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с низким уровнем 31%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14</a:t>
            </a:fld>
            <a:endParaRPr lang="ru-RU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88472" y="1389828"/>
            <a:ext cx="2998821" cy="447299"/>
          </a:xfrm>
        </p:spPr>
        <p:txBody>
          <a:bodyPr/>
          <a:lstStyle/>
          <a:p>
            <a:r>
              <a:rPr lang="ru-RU" dirty="0"/>
              <a:t> </a:t>
            </a:r>
          </a:p>
        </p:txBody>
      </p:sp>
      <p:pic>
        <p:nvPicPr>
          <p:cNvPr id="10" name="Объект 9">
            <a:extLst>
              <a:ext uri="{FF2B5EF4-FFF2-40B4-BE49-F238E27FC236}">
                <a16:creationId xmlns:a16="http://schemas.microsoft.com/office/drawing/2014/main" id="{3FDE49D3-4883-6C57-1488-15293B78D40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162845" y="2434527"/>
            <a:ext cx="3456382" cy="4100600"/>
          </a:xfr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6251F12-FF55-D34C-1989-DF043FCBFA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5480" y="2434527"/>
            <a:ext cx="3326900" cy="4132063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93277DC-97E0-51E0-7DF5-8C141157AC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7665" y="2434527"/>
            <a:ext cx="4219829" cy="41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6521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n-US" dirty="0"/>
              <a:t>EDA: </a:t>
            </a:r>
            <a:r>
              <a:rPr lang="ru-RU" dirty="0"/>
              <a:t>почему уходят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Материальная составляющая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3647" y="1151023"/>
            <a:ext cx="5472000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0000" y="1902054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31979" y="850573"/>
            <a:ext cx="923833" cy="528683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78165" y="600828"/>
            <a:ext cx="5104736" cy="1158202"/>
          </a:xfrm>
        </p:spPr>
        <p:txBody>
          <a:bodyPr rtlCol="0"/>
          <a:lstStyle/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Уровень опционов на акции: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ключевой фактор</a:t>
            </a:r>
          </a:p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sz="1600" dirty="0">
                <a:solidFill>
                  <a:srgbClr val="0F1115"/>
                </a:solidFill>
                <a:latin typeface="quote-cjk-patch"/>
              </a:rPr>
              <a:t>Без опционов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: 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24% (в 2-3 раза больше отток)</a:t>
            </a:r>
          </a:p>
          <a:p>
            <a:pPr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Ежемесячный доход: </a:t>
            </a:r>
            <a:r>
              <a:rPr lang="ru-RU" sz="1600" b="1" dirty="0">
                <a:solidFill>
                  <a:srgbClr val="0F1115"/>
                </a:solidFill>
                <a:latin typeface="quote-cjk-patch"/>
              </a:rPr>
              <a:t>слабо влияет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rtl="0"/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15</a:t>
            </a:fld>
            <a:endParaRPr lang="ru-RU" dirty="0"/>
          </a:p>
        </p:txBody>
      </p:sp>
      <p:pic>
        <p:nvPicPr>
          <p:cNvPr id="14" name="Объект 13">
            <a:extLst>
              <a:ext uri="{FF2B5EF4-FFF2-40B4-BE49-F238E27FC236}">
                <a16:creationId xmlns:a16="http://schemas.microsoft.com/office/drawing/2014/main" id="{9023C35A-3DF4-313E-9047-888AE32DB14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337725" y="2089096"/>
            <a:ext cx="6651948" cy="2179748"/>
          </a:xfr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B668927-5ED3-3D22-833E-76A4169CE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698" y="4284040"/>
            <a:ext cx="6810973" cy="2443243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D2CC4A6-4F25-5BFD-DE3D-1F9A494FB3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2835" y="2712682"/>
            <a:ext cx="3804001" cy="3380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2230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 descr="Рука пишет что-то на стикере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785" y="8476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060" y="962493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en-US" sz="6000" dirty="0"/>
              <a:t>EDA</a:t>
            </a:r>
            <a:endParaRPr lang="ru-RU" sz="60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118060" y="2094991"/>
            <a:ext cx="6641626" cy="590155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dirty="0">
                <a:solidFill>
                  <a:schemeClr val="tx1"/>
                </a:solidFill>
                <a:latin typeface="quote-cjk-patch"/>
              </a:rPr>
              <a:t>Ключевые инсайты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8163" y="2787273"/>
            <a:ext cx="5669279" cy="3923628"/>
          </a:xfrm>
        </p:spPr>
        <p:txBody>
          <a:bodyPr rtlCol="0"/>
          <a:lstStyle/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Поколение Z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уходит чаще всех - 27.9% против 12.5% (X) и 12.9% (Y).</a:t>
            </a:r>
          </a:p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Молодые сотрудники (до 28 лет) 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— основная группа риска.</a:t>
            </a:r>
          </a:p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Одинокие уходят чаще 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— 25.5% против 12.5% (женатые) и 10.1% (разведённые).</a:t>
            </a:r>
          </a:p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Не имеющие опционов на акции 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— 24.0% против 9 и 8% (в 3 раза выше)</a:t>
            </a:r>
          </a:p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Sales и HR 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— «горячие точки» — 20.6% и 19.0% оттока.</a:t>
            </a:r>
          </a:p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Human Resources и </a:t>
            </a:r>
            <a:r>
              <a:rPr lang="ru-RU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b="1" dirty="0" err="1">
                <a:latin typeface="Arial" panose="020B0604020202020204" pitchFamily="34" charset="0"/>
                <a:cs typeface="Arial" panose="020B0604020202020204" pitchFamily="34" charset="0"/>
              </a:rPr>
              <a:t>Degree</a:t>
            </a:r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— сферы образования с самым высоким оттоком (25.9% и 24.2%).</a:t>
            </a:r>
          </a:p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Гипотеза о сезонности не подтвердилась 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— сезон рождения не влияет на отток.</a:t>
            </a:r>
          </a:p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Степень удовлетворённости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распределена равномерно между поколениями.</a:t>
            </a:r>
          </a:p>
          <a:p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Степень удовлетворённости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lang="ru-RU" sz="1200" b="1" dirty="0">
                <a:latin typeface="Arial" panose="020B0604020202020204" pitchFamily="34" charset="0"/>
                <a:cs typeface="Arial" panose="020B0604020202020204" pitchFamily="34" charset="0"/>
              </a:rPr>
              <a:t>Переработки</a:t>
            </a:r>
            <a:r>
              <a:rPr lang="ru-RU" sz="1200" dirty="0">
                <a:latin typeface="Arial" panose="020B0604020202020204" pitchFamily="34" charset="0"/>
                <a:cs typeface="Arial" panose="020B0604020202020204" pitchFamily="34" charset="0"/>
              </a:rPr>
              <a:t> являются ключевыми предикторами оттока.</a:t>
            </a:r>
            <a:endParaRPr lang="ru-RU" sz="12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27225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ru-RU" sz="5400" dirty="0"/>
              <a:t>Моделирование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858500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dirty="0"/>
              <a:t>Подход к моделированию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dirty="0">
                <a:solidFill>
                  <a:srgbClr val="0F1115"/>
                </a:solidFill>
                <a:latin typeface="quote-cjk-patch"/>
              </a:rPr>
              <a:t>Методология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2791898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22494" y="2791898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53270" y="1965400"/>
            <a:ext cx="3069224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222494" y="3075815"/>
            <a:ext cx="5084261" cy="3169514"/>
          </a:xfrm>
        </p:spPr>
        <p:txBody>
          <a:bodyPr rtlCol="0"/>
          <a:lstStyle/>
          <a:p>
            <a:pPr marL="0" indent="0" algn="l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Методология:</a:t>
            </a:r>
          </a:p>
          <a:p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Кросс-валидация: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StratifiedKFold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(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n_splits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=5)</a:t>
            </a:r>
          </a:p>
          <a:p>
            <a:pPr algn="l"/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Оптимизация: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GridSearchCV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по метрике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average_precision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 (PR-AUC)</a:t>
            </a:r>
          </a:p>
          <a:p>
            <a:pPr algn="l"/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Порог классификации подбирается на тестовой выборке (диапазон 0.20–0.60)</a:t>
            </a:r>
          </a:p>
          <a:p>
            <a:pPr algn="l"/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Учёт дисбаланса: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class_weight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='balanced',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scale_pos_weight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,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auto_class_weights</a:t>
            </a:r>
            <a:endParaRPr lang="en-US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/>
            <a:r>
              <a:rPr lang="ru-RU" sz="1600" b="0" i="0" dirty="0" err="1">
                <a:solidFill>
                  <a:srgbClr val="0F1115"/>
                </a:solidFill>
                <a:effectLst/>
                <a:latin typeface="quote-cjk-patch"/>
              </a:rPr>
              <a:t>Препроцессинг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: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ColumnTransformer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с раздельной обработкой числовых, порядковых, номинальных и бинарных признаков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18</a:t>
            </a:fld>
            <a:endParaRPr lang="ru-RU" dirty="0"/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74343A5C-EA79-752E-8C86-327A961D9C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1802" y="1511999"/>
            <a:ext cx="9523232" cy="906801"/>
          </a:xfrm>
        </p:spPr>
        <p:txBody>
          <a:bodyPr/>
          <a:lstStyle/>
          <a:p>
            <a:r>
              <a:rPr lang="ru-RU" sz="1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Подход: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Классическая модель (Classic) - только демография, структура, компенсация и стаж.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Расширенная модель (</a:t>
            </a:r>
            <a:r>
              <a:rPr lang="ru-RU" sz="1400" b="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Extended</a:t>
            </a:r>
            <a:r>
              <a:rPr lang="ru-RU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- классические признаки + поведенческий, </a:t>
            </a:r>
            <a:r>
              <a:rPr lang="ru-RU" sz="1400" b="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поколенческий</a:t>
            </a:r>
            <a:r>
              <a:rPr lang="ru-RU" sz="1400" b="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сезонный слои.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001B086D-125B-6004-69F5-1322212B6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1800" y="3075815"/>
            <a:ext cx="4787437" cy="3169514"/>
          </a:xfrm>
        </p:spPr>
        <p:txBody>
          <a:bodyPr/>
          <a:lstStyle/>
          <a:p>
            <a:pPr marL="0" indent="0" algn="l">
              <a:buNone/>
            </a:pP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Для каждой группы обучены шесть моделей: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Logistic Regression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Random Forest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i="0" dirty="0" err="1">
                <a:solidFill>
                  <a:srgbClr val="0F1115"/>
                </a:solidFill>
                <a:effectLst/>
                <a:latin typeface="quote-cjk-patch"/>
              </a:rPr>
              <a:t>XGBoost</a:t>
            </a:r>
            <a:endParaRPr lang="en-US" sz="160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LightGBM</a:t>
            </a:r>
            <a:endParaRPr lang="en-US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CatBoost</a:t>
            </a:r>
            <a:endParaRPr lang="en-US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1" i="0" dirty="0">
                <a:solidFill>
                  <a:srgbClr val="0F1115"/>
                </a:solidFill>
                <a:effectLst/>
                <a:latin typeface="quote-cjk-patch"/>
              </a:rPr>
              <a:t>SVM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← </a:t>
            </a:r>
            <a:r>
              <a:rPr lang="en-US" sz="1600" b="0" i="0" dirty="0" err="1">
                <a:solidFill>
                  <a:srgbClr val="0F1115"/>
                </a:solidFill>
                <a:effectLst/>
                <a:latin typeface="quote-cjk-patch"/>
              </a:rPr>
              <a:t>победитель</a:t>
            </a:r>
            <a:endParaRPr lang="en-US" sz="16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42331497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dirty="0"/>
              <a:t>Сравнение моделей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Расширенная модель побеждает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890" y="2317775"/>
            <a:ext cx="5472000" cy="360000"/>
          </a:xfrm>
        </p:spPr>
        <p:txBody>
          <a:bodyPr rtlCol="0"/>
          <a:lstStyle/>
          <a:p>
            <a:pPr rtl="0"/>
            <a:r>
              <a:rPr lang="ru-RU" sz="2000" dirty="0"/>
              <a:t> </a:t>
            </a:r>
          </a:p>
        </p:txBody>
      </p:sp>
      <p:graphicFrame>
        <p:nvGraphicFramePr>
          <p:cNvPr id="9" name="Объект 8">
            <a:extLst>
              <a:ext uri="{FF2B5EF4-FFF2-40B4-BE49-F238E27FC236}">
                <a16:creationId xmlns:a16="http://schemas.microsoft.com/office/drawing/2014/main" id="{BB0A2F7D-61A7-8A33-C217-8AE1EA916194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852925649"/>
              </p:ext>
            </p:extLst>
          </p:nvPr>
        </p:nvGraphicFramePr>
        <p:xfrm>
          <a:off x="5557985" y="274899"/>
          <a:ext cx="6202015" cy="2377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992326">
                  <a:extLst>
                    <a:ext uri="{9D8B030D-6E8A-4147-A177-3AD203B41FA5}">
                      <a16:colId xmlns:a16="http://schemas.microsoft.com/office/drawing/2014/main" val="446703337"/>
                    </a:ext>
                  </a:extLst>
                </a:gridCol>
                <a:gridCol w="1337374">
                  <a:extLst>
                    <a:ext uri="{9D8B030D-6E8A-4147-A177-3AD203B41FA5}">
                      <a16:colId xmlns:a16="http://schemas.microsoft.com/office/drawing/2014/main" val="1559398839"/>
                    </a:ext>
                  </a:extLst>
                </a:gridCol>
                <a:gridCol w="1476227">
                  <a:extLst>
                    <a:ext uri="{9D8B030D-6E8A-4147-A177-3AD203B41FA5}">
                      <a16:colId xmlns:a16="http://schemas.microsoft.com/office/drawing/2014/main" val="3947038031"/>
                    </a:ext>
                  </a:extLst>
                </a:gridCol>
                <a:gridCol w="1396088">
                  <a:extLst>
                    <a:ext uri="{9D8B030D-6E8A-4147-A177-3AD203B41FA5}">
                      <a16:colId xmlns:a16="http://schemas.microsoft.com/office/drawing/2014/main" val="1185249751"/>
                    </a:ext>
                  </a:extLst>
                </a:gridCol>
              </a:tblGrid>
              <a:tr h="310375"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Метрика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kern="1200" dirty="0">
                          <a:solidFill>
                            <a:schemeClr val="lt1"/>
                          </a:solidFill>
                          <a:effectLst/>
                        </a:rPr>
                        <a:t>Classic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Extended </a:t>
                      </a:r>
                      <a:endParaRPr lang="ru-RU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Прирост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882372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ROC-AUC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+0.149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1472341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PR-AUC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+0.290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7329773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F1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0.598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+0.224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9586149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Recall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0.489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+0.128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841128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Precision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+0.277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666265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Accuracy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+0.129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6748507"/>
                  </a:ext>
                </a:extLst>
              </a:tr>
            </a:tbl>
          </a:graphicData>
        </a:graphic>
      </p:graphicFrame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57985" y="2785608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 flipV="1">
            <a:off x="10448014" y="2170706"/>
            <a:ext cx="1323986" cy="272753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  <a:p>
            <a:pPr rtl="0"/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85336" y="2947460"/>
            <a:ext cx="886664" cy="1989658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 </a:t>
            </a: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19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DEDDED3D-B0F5-EEF4-59EA-03319BB64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09" y="3008265"/>
            <a:ext cx="11322654" cy="3795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9174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algn="l"/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Feature Importance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Что влияет на отток сильнее всего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800" y="1545003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03647" y="1151023"/>
            <a:ext cx="5472000" cy="360000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12696" y="1153611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8000" y="2252001"/>
            <a:ext cx="5472000" cy="358775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304889" y="2947459"/>
            <a:ext cx="1455111" cy="1481418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 </a:t>
            </a:r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20</a:t>
            </a:fld>
            <a:endParaRPr lang="ru-RU" dirty="0"/>
          </a:p>
        </p:txBody>
      </p:sp>
      <p:pic>
        <p:nvPicPr>
          <p:cNvPr id="14" name="Объект 13">
            <a:extLst>
              <a:ext uri="{FF2B5EF4-FFF2-40B4-BE49-F238E27FC236}">
                <a16:creationId xmlns:a16="http://schemas.microsoft.com/office/drawing/2014/main" id="{837D2949-8B39-947C-303D-E9B0FF63B8E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31800" y="1679342"/>
            <a:ext cx="9666357" cy="5038376"/>
          </a:xfrm>
        </p:spPr>
      </p:pic>
    </p:spTree>
    <p:extLst>
      <p:ext uri="{BB962C8B-B14F-4D97-AF65-F5344CB8AC3E}">
        <p14:creationId xmlns:p14="http://schemas.microsoft.com/office/powerpoint/2010/main" val="10920717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9304E83-A4F0-49C5-BB01-F5773509A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-RU" dirty="0"/>
              <a:t>Итоговые метрики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A42D59-EAD6-4F95-84F1-32A30F05785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Финальные показатели модели</a:t>
            </a:r>
            <a:endParaRPr lang="ru-RU" dirty="0"/>
          </a:p>
        </p:txBody>
      </p:sp>
      <p:sp>
        <p:nvSpPr>
          <p:cNvPr id="12" name="Прямоугольник 11" descr="Контрастный блок слева">
            <a:extLst>
              <a:ext uri="{FF2B5EF4-FFF2-40B4-BE49-F238E27FC236}">
                <a16:creationId xmlns:a16="http://schemas.microsoft.com/office/drawing/2014/main" id="{7F65E93D-09FF-42EE-B9DD-750638966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9890" y="1917251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B259A0-0017-492F-A0DC-4B70C7052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9890" y="2317775"/>
            <a:ext cx="5472000" cy="360000"/>
          </a:xfrm>
        </p:spPr>
        <p:txBody>
          <a:bodyPr rtlCol="0"/>
          <a:lstStyle/>
          <a:p>
            <a:pPr rtl="0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Итоговая модель: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SVM</a:t>
            </a:r>
          </a:p>
          <a:p>
            <a:pPr rtl="0"/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Порог классификации: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0.</a:t>
            </a:r>
            <a:r>
              <a:rPr lang="en-US" sz="1600" b="0" i="0" dirty="0">
                <a:solidFill>
                  <a:srgbClr val="0F1115"/>
                </a:solidFill>
                <a:effectLst/>
                <a:latin typeface="quote-cjk-patch"/>
              </a:rPr>
              <a:t>30</a:t>
            </a:r>
            <a:endParaRPr lang="ru-RU" sz="2000" dirty="0"/>
          </a:p>
        </p:txBody>
      </p:sp>
      <p:cxnSp>
        <p:nvCxnSpPr>
          <p:cNvPr id="11" name="Прямая соединительная линия 10" descr="Разделитель слайда">
            <a:extLst>
              <a:ext uri="{FF2B5EF4-FFF2-40B4-BE49-F238E27FC236}">
                <a16:creationId xmlns:a16="http://schemas.microsoft.com/office/drawing/2014/main" id="{5A563457-1EC8-4978-BCCB-AFD88C9ED0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855103" y="2249242"/>
            <a:ext cx="0" cy="241133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 descr="Черта справа&#10;">
            <a:extLst>
              <a:ext uri="{FF2B5EF4-FFF2-40B4-BE49-F238E27FC236}">
                <a16:creationId xmlns:a16="http://schemas.microsoft.com/office/drawing/2014/main" id="{A7CD04AE-9A8B-4DED-855D-F51B510D0B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29228" y="590588"/>
            <a:ext cx="1984175" cy="11482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237D1CA-B91A-410E-A968-D017BBE99F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 flipV="1">
            <a:off x="10448014" y="2170706"/>
            <a:ext cx="1323986" cy="272753"/>
          </a:xfrm>
        </p:spPr>
        <p:txBody>
          <a:bodyPr rtlCol="0"/>
          <a:lstStyle/>
          <a:p>
            <a:pPr rtl="0"/>
            <a:r>
              <a:rPr lang="ru-RU" dirty="0"/>
              <a:t> </a:t>
            </a:r>
          </a:p>
          <a:p>
            <a:pPr rtl="0"/>
            <a:endParaRPr lang="ru-RU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6A87885-D672-4CF9-A78D-CFE98385B0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885336" y="2947460"/>
            <a:ext cx="886664" cy="1989658"/>
          </a:xfrm>
        </p:spPr>
        <p:txBody>
          <a:bodyPr rtlCol="0"/>
          <a:lstStyle/>
          <a:p>
            <a:pPr marL="0" indent="0" rtl="0">
              <a:buNone/>
            </a:pPr>
            <a:r>
              <a:rPr lang="ru-RU" dirty="0"/>
              <a:t> </a:t>
            </a:r>
          </a:p>
          <a:p>
            <a:pPr marL="0" indent="0" rtl="0">
              <a:buNone/>
            </a:pPr>
            <a:endParaRPr lang="ru-RU" dirty="0"/>
          </a:p>
        </p:txBody>
      </p:sp>
      <p:sp>
        <p:nvSpPr>
          <p:cNvPr id="8" name="Номер слайда 7">
            <a:extLst>
              <a:ext uri="{FF2B5EF4-FFF2-40B4-BE49-F238E27FC236}">
                <a16:creationId xmlns:a16="http://schemas.microsoft.com/office/drawing/2014/main" id="{E6AC9832-FB01-464A-9824-61887B77997E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>
          <a:xfrm>
            <a:off x="11760000" y="6371351"/>
            <a:ext cx="432000" cy="432000"/>
          </a:xfrm>
        </p:spPr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21</a:t>
            </a:fld>
            <a:endParaRPr lang="ru-RU" dirty="0"/>
          </a:p>
        </p:txBody>
      </p:sp>
      <p:graphicFrame>
        <p:nvGraphicFramePr>
          <p:cNvPr id="14" name="Объект 13">
            <a:extLst>
              <a:ext uri="{FF2B5EF4-FFF2-40B4-BE49-F238E27FC236}">
                <a16:creationId xmlns:a16="http://schemas.microsoft.com/office/drawing/2014/main" id="{577983F8-F890-621C-7202-8E88955C6A20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9314062"/>
              </p:ext>
            </p:extLst>
          </p:nvPr>
        </p:nvGraphicFramePr>
        <p:xfrm>
          <a:off x="431800" y="3320994"/>
          <a:ext cx="3468553" cy="2377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992326">
                  <a:extLst>
                    <a:ext uri="{9D8B030D-6E8A-4147-A177-3AD203B41FA5}">
                      <a16:colId xmlns:a16="http://schemas.microsoft.com/office/drawing/2014/main" val="303345110"/>
                    </a:ext>
                  </a:extLst>
                </a:gridCol>
                <a:gridCol w="1476227">
                  <a:extLst>
                    <a:ext uri="{9D8B030D-6E8A-4147-A177-3AD203B41FA5}">
                      <a16:colId xmlns:a16="http://schemas.microsoft.com/office/drawing/2014/main" val="962571082"/>
                    </a:ext>
                  </a:extLst>
                </a:gridCol>
              </a:tblGrid>
              <a:tr h="310375"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chemeClr val="lt1"/>
                          </a:solidFill>
                          <a:effectLst/>
                        </a:rPr>
                        <a:t>Метрика 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 </a:t>
                      </a:r>
                      <a:r>
                        <a:rPr lang="ru-RU" b="0" dirty="0"/>
                        <a:t>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7579412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ROC-AUC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0.846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45712845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PR-AUC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0.619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8827178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F1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0.598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049439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Recall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0.617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7721456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Precision (attrition)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0.580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367273"/>
                  </a:ext>
                </a:extLst>
              </a:tr>
              <a:tr h="284511">
                <a:tc>
                  <a:txBody>
                    <a:bodyPr/>
                    <a:lstStyle/>
                    <a:p>
                      <a:r>
                        <a:rPr lang="en-US" sz="1600" dirty="0"/>
                        <a:t>Accuracy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0.867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442733"/>
                  </a:ext>
                </a:extLst>
              </a:tr>
            </a:tbl>
          </a:graphicData>
        </a:graphic>
      </p:graphicFrame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3EFE262-4E43-E52B-AA27-E8BED09B13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7766" y="1406911"/>
            <a:ext cx="6522241" cy="434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553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 descr="Стол с компьютером, телефоном, книгами и т. д.">
            <a:extLst>
              <a:ext uri="{FF2B5EF4-FFF2-40B4-BE49-F238E27FC236}">
                <a16:creationId xmlns:a16="http://schemas.microsoft.com/office/drawing/2014/main" id="{2E7ADBC3-DECA-9F4C-9289-9E43C727592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00B3D2B-613A-41BE-987D-E6A1324B4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>
              <a:lnSpc>
                <a:spcPts val="6000"/>
              </a:lnSpc>
            </a:pPr>
            <a:r>
              <a:rPr lang="ru-RU" sz="5400" dirty="0"/>
              <a:t>Подведение итогов</a:t>
            </a:r>
          </a:p>
        </p:txBody>
      </p:sp>
      <p:sp>
        <p:nvSpPr>
          <p:cNvPr id="14" name="Текст 13">
            <a:extLst>
              <a:ext uri="{FF2B5EF4-FFF2-40B4-BE49-F238E27FC236}">
                <a16:creationId xmlns:a16="http://schemas.microsoft.com/office/drawing/2014/main" id="{F278402B-CA7D-4F5B-B3FA-ED74AB3CFB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rtlCol="0"/>
          <a:lstStyle/>
          <a:p>
            <a:pPr rtl="0"/>
            <a:r>
              <a:rPr lang="ru-RU" dirty="0"/>
              <a:t>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DD5A594-D852-43BB-B591-E9D902725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9717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 descr="Рука пишет что-то на стикере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785" y="847669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8060" y="962493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ru-RU" sz="5400" dirty="0"/>
              <a:t>Рекомендации для</a:t>
            </a:r>
            <a:r>
              <a:rPr lang="en-US" sz="5400" dirty="0"/>
              <a:t> HR</a:t>
            </a:r>
            <a:endParaRPr lang="ru-RU" sz="5400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118060" y="2094991"/>
            <a:ext cx="6641626" cy="590155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Что делать бизнесу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23</a:t>
            </a:fld>
            <a:endParaRPr lang="ru-RU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772CD6D-F571-3DC8-2464-4B9C72A1CA01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6164036" y="2870138"/>
            <a:ext cx="5595650" cy="3684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2218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Борьба со сверхурочной работой (</a:t>
            </a:r>
            <a:r>
              <a:rPr lang="en-US" altLang="ru-RU" sz="1400" b="1" dirty="0" err="1">
                <a:solidFill>
                  <a:srgbClr val="0F1115"/>
                </a:solidFill>
                <a:latin typeface="quote-cjk-patch"/>
              </a:rPr>
              <a:t>OverTime</a:t>
            </a: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Аудит нагрузки в Sales и HR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Ограничение переработок на уровне политики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Программа удержания поколения Z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Менторство от старших коллег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Прозрачный карьерный трек на 6-12 месяцев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Быстрый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онбординг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Работа с вовлечённостью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Ежеквартальные пульс-опросы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Программы признания достижений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Больше автономии в решениях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Развитие карьеры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Performance </a:t>
            </a: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review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= разговор о будущем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Инвестиции в обучение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ru-RU" altLang="ru-RU" sz="14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Фокус на «горячие точки»</a:t>
            </a:r>
            <a:endParaRPr kumimoji="0" lang="ru-RU" altLang="ru-RU" sz="1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Exit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-интервью в Sales и HR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Отдельные программы для одиноких молодых сотрудников</a:t>
            </a: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0906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3">
            <a:extLst>
              <a:ext uri="{FF2B5EF4-FFF2-40B4-BE49-F238E27FC236}">
                <a16:creationId xmlns:a16="http://schemas.microsoft.com/office/drawing/2014/main" id="{D355C61F-C8F1-4977-8E1F-F16C0D9EA8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8633" y="532738"/>
            <a:ext cx="5499673" cy="4524292"/>
          </a:xfrm>
        </p:spPr>
        <p:txBody>
          <a:bodyPr rtlCol="0"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Ограничения: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Датасет синтетический, выводы могут не переноситься 1-в-1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Сезонный признак сгенерирован, реальная сезонность не проверена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Год рождения условный (использован текущий год)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Что можно улучшить: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Получить реальные данные о датах рождения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Добавить временной ряд (динамика оттока за 2-3 года)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Внедрить текстовый анализ 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exit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-интервью (NLP)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Провести A/B-тест программы удержания</a:t>
            </a:r>
          </a:p>
        </p:txBody>
      </p:sp>
      <p:pic>
        <p:nvPicPr>
          <p:cNvPr id="9" name="Рисунок 8" descr="Рука прикасается к мобильному телефону">
            <a:extLst>
              <a:ext uri="{FF2B5EF4-FFF2-40B4-BE49-F238E27FC236}">
                <a16:creationId xmlns:a16="http://schemas.microsoft.com/office/drawing/2014/main" id="{A9A75888-22E3-1D43-9112-DA02186070B5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48588" y="3688075"/>
            <a:ext cx="2411412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1043" y="3802898"/>
            <a:ext cx="5398957" cy="1429059"/>
          </a:xfrm>
        </p:spPr>
        <p:txBody>
          <a:bodyPr rtlCol="0"/>
          <a:lstStyle/>
          <a:p>
            <a:pPr algn="l"/>
            <a:r>
              <a:rPr lang="ru-RU" sz="5400" dirty="0">
                <a:solidFill>
                  <a:srgbClr val="0F1115"/>
                </a:solidFill>
                <a:latin typeface="quote-cjk-patch"/>
              </a:rPr>
              <a:t>Ограничения и развитие</a:t>
            </a:r>
            <a:endParaRPr lang="ru-RU" sz="5400" b="1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060758" y="5231956"/>
            <a:ext cx="4699242" cy="718743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Честно об ограничениях</a:t>
            </a:r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05337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 descr="Рука пишет что-то на стикере">
            <a:extLst>
              <a:ext uri="{FF2B5EF4-FFF2-40B4-BE49-F238E27FC236}">
                <a16:creationId xmlns:a16="http://schemas.microsoft.com/office/drawing/2014/main" id="{7E468295-904F-0743-AD06-67DA21353B9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1"/>
            <a:ext cx="6096000" cy="6371351"/>
          </a:xfrm>
        </p:spPr>
      </p:pic>
      <p:sp>
        <p:nvSpPr>
          <p:cNvPr id="20" name="Прямоугольник 19" descr="Контрастный блок">
            <a:extLst>
              <a:ext uri="{FF2B5EF4-FFF2-40B4-BE49-F238E27FC236}">
                <a16:creationId xmlns:a16="http://schemas.microsoft.com/office/drawing/2014/main" id="{EFA08948-2B6F-46B1-9D2D-8D7B2B3FB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775510" y="1275424"/>
            <a:ext cx="1984175" cy="1148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0F281-4FF6-4617-A809-AC9C15E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7785" y="1390248"/>
            <a:ext cx="6641900" cy="1124345"/>
          </a:xfrm>
        </p:spPr>
        <p:txBody>
          <a:bodyPr rtlCol="0"/>
          <a:lstStyle/>
          <a:p>
            <a:pPr rtl="0">
              <a:lnSpc>
                <a:spcPts val="5400"/>
              </a:lnSpc>
            </a:pPr>
            <a:r>
              <a:rPr lang="ru-RU" sz="5400" dirty="0"/>
              <a:t>Выводы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11DC577-0A95-47D0-95D9-5F8DA763D46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5118059" y="2514593"/>
            <a:ext cx="6641626" cy="590155"/>
          </a:xfrm>
          <a:solidFill>
            <a:schemeClr val="tx2">
              <a:lumMod val="40000"/>
              <a:lumOff val="60000"/>
              <a:alpha val="80000"/>
            </a:schemeClr>
          </a:solidFill>
        </p:spPr>
        <p:txBody>
          <a:bodyPr rtlCol="0"/>
          <a:lstStyle/>
          <a:p>
            <a:pPr rtl="0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Итоги проекта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554D9F-1895-486E-BFBA-905BB2D29E08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25</a:t>
            </a:fld>
            <a:endParaRPr lang="ru-RU" dirty="0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772CD6D-F571-3DC8-2464-4B9C72A1CA01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6297432" y="3253832"/>
            <a:ext cx="5462253" cy="29175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2218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algn="l">
              <a:buNone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4 ключевых вывода:</a:t>
            </a:r>
            <a:endParaRPr lang="ru-RU" sz="16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sz="1600" b="1" i="0" dirty="0" err="1">
                <a:solidFill>
                  <a:srgbClr val="0F1115"/>
                </a:solidFill>
                <a:effectLst/>
                <a:latin typeface="quote-cjk-patch"/>
              </a:rPr>
              <a:t>Поколенческий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 слой работает.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Поколение Z уходит в 2 раза чаще — гипотеза подтверждена.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Расширенная модель лучше классической.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Прирост по всем ключевым метрикам.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 err="1">
                <a:solidFill>
                  <a:srgbClr val="0F1115"/>
                </a:solidFill>
                <a:effectLst/>
                <a:latin typeface="quote-cjk-patch"/>
              </a:rPr>
              <a:t>OverTime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 и </a:t>
            </a:r>
            <a:r>
              <a:rPr lang="ru-RU" sz="1600" b="1" i="0" dirty="0" err="1">
                <a:solidFill>
                  <a:srgbClr val="0F1115"/>
                </a:solidFill>
                <a:effectLst/>
                <a:latin typeface="quote-cjk-patch"/>
              </a:rPr>
              <a:t>Overall_Satisfaction</a:t>
            </a: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 — главные драйверы.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Зарплата важна, но не решает всё.</a:t>
            </a:r>
          </a:p>
          <a:p>
            <a:pPr algn="l">
              <a:buFont typeface="+mj-lt"/>
              <a:buAutoNum type="arabicPeriod"/>
            </a:pPr>
            <a:r>
              <a:rPr lang="ru-RU" sz="1600" b="1" i="0" dirty="0">
                <a:solidFill>
                  <a:srgbClr val="0F1115"/>
                </a:solidFill>
                <a:effectLst/>
                <a:latin typeface="quote-cjk-patch"/>
              </a:rPr>
              <a:t>Практическая ценность.</a:t>
            </a:r>
            <a:r>
              <a:rPr lang="ru-RU" sz="1600" b="0" i="0" dirty="0">
                <a:solidFill>
                  <a:srgbClr val="0F1115"/>
                </a:solidFill>
                <a:effectLst/>
                <a:latin typeface="quote-cjk-patch"/>
              </a:rPr>
              <a:t> Модель выявляет конкретные группы риска для HR-программ.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47476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 descr="конференц-зал">
            <a:extLst>
              <a:ext uri="{FF2B5EF4-FFF2-40B4-BE49-F238E27FC236}">
                <a16:creationId xmlns:a16="http://schemas.microsoft.com/office/drawing/2014/main" id="{8F5AE0D5-C196-A947-8AFE-449A48B2615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5" b="45"/>
          <a:stretch>
            <a:fillRect/>
          </a:stretch>
        </p:blipFill>
        <p:spPr/>
      </p:pic>
      <p:sp>
        <p:nvSpPr>
          <p:cNvPr id="4" name="Объект 3">
            <a:extLst>
              <a:ext uri="{FF2B5EF4-FFF2-40B4-BE49-F238E27FC236}">
                <a16:creationId xmlns:a16="http://schemas.microsoft.com/office/drawing/2014/main" id="{3B86E961-B76E-423F-995E-11B31E9214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92278" y="4325510"/>
            <a:ext cx="4047214" cy="1661822"/>
          </a:xfrm>
        </p:spPr>
        <p:txBody>
          <a:bodyPr rtlCol="0"/>
          <a:lstStyle/>
          <a:p>
            <a:pPr rtl="0"/>
            <a:r>
              <a:rPr lang="ru-RU" sz="1600" b="0" i="0" dirty="0">
                <a:effectLst/>
                <a:latin typeface="quote-cjk-patch"/>
              </a:rPr>
              <a:t>Проект показал: интеграция поведенческих и </a:t>
            </a:r>
            <a:r>
              <a:rPr lang="ru-RU" sz="1600" b="0" i="0" dirty="0" err="1">
                <a:effectLst/>
                <a:latin typeface="quote-cjk-patch"/>
              </a:rPr>
              <a:t>поколенческих</a:t>
            </a:r>
            <a:r>
              <a:rPr lang="ru-RU" sz="1600" b="0" i="0" dirty="0">
                <a:effectLst/>
                <a:latin typeface="quote-cjk-patch"/>
              </a:rPr>
              <a:t> факторов — это не дань моде, а реальный инструмент улучшения прогноза. Модель можно использовать для выявления сотрудников группы риска и адресной работы с ними.</a:t>
            </a:r>
            <a:endParaRPr lang="ru-RU" sz="1600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202D98-AA1E-41BB-B94E-180311759C1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26</a:t>
            </a:fld>
            <a:endParaRPr lang="ru-RU" dirty="0"/>
          </a:p>
        </p:txBody>
      </p:sp>
      <p:sp>
        <p:nvSpPr>
          <p:cNvPr id="11" name="Title 10" hidden="1">
            <a:extLst>
              <a:ext uri="{FF2B5EF4-FFF2-40B4-BE49-F238E27FC236}">
                <a16:creationId xmlns:a16="http://schemas.microsoft.com/office/drawing/2014/main" id="{C5462610-1D7E-437B-B516-F30D9A789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ru"/>
              <a:t>Large image</a:t>
            </a:r>
          </a:p>
        </p:txBody>
      </p:sp>
    </p:spTree>
    <p:extLst>
      <p:ext uri="{BB962C8B-B14F-4D97-AF65-F5344CB8AC3E}">
        <p14:creationId xmlns:p14="http://schemas.microsoft.com/office/powerpoint/2010/main" val="5610268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Рисунок 31" descr="Люди аплодируют">
            <a:extLst>
              <a:ext uri="{FF2B5EF4-FFF2-40B4-BE49-F238E27FC236}">
                <a16:creationId xmlns:a16="http://schemas.microsoft.com/office/drawing/2014/main" id="{AAB6EE12-FEF8-FB41-A909-0DA61D7725C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6C38D7A9-9299-4108-BB08-026F4B9CAE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ru-RU" sz="4800" dirty="0"/>
              <a:t>Спасибо за внимание!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0828E04-9C2A-4859-8050-C2DF67A249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ru-RU" sz="1700" dirty="0"/>
              <a:t>Надежда Володина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1265965-2271-4C1C-BD0A-6F85F80FF9A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r>
              <a:rPr lang="en-US" sz="1700" dirty="0" err="1"/>
              <a:t>nn_volodina</a:t>
            </a:r>
            <a:r>
              <a:rPr lang="ru-RU" sz="1700" dirty="0"/>
              <a:t>@</a:t>
            </a:r>
            <a:r>
              <a:rPr lang="en-US" sz="1700" dirty="0"/>
              <a:t>mail.ru</a:t>
            </a:r>
            <a:endParaRPr lang="ru-RU" sz="1700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0A3BCC3-A277-4C0B-9EBA-EB53990D8EB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/>
          <a:lstStyle/>
          <a:p>
            <a:pPr rtl="0"/>
            <a:r>
              <a:rPr lang="ru-RU" sz="1700" dirty="0">
                <a:hlinkClick r:id="rId4"/>
              </a:rPr>
              <a:t>Репозиторий</a:t>
            </a:r>
            <a:endParaRPr lang="ru-RU" sz="1700" dirty="0"/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D8A1232-50A8-4535-AAF9-7F4180EAA0DD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rtlCol="0"/>
          <a:lstStyle/>
          <a:p>
            <a:r>
              <a:rPr lang="ru-RU" sz="1700" dirty="0"/>
              <a:t> </a:t>
            </a:r>
            <a:r>
              <a:rPr lang="ru-RU" sz="1700" dirty="0">
                <a:hlinkClick r:id="rId5"/>
              </a:rPr>
              <a:t>Ссылка на </a:t>
            </a:r>
            <a:r>
              <a:rPr lang="ru-RU" sz="1700" dirty="0" err="1">
                <a:hlinkClick r:id="rId5"/>
              </a:rPr>
              <a:t>дашборд</a:t>
            </a:r>
            <a:r>
              <a:rPr lang="ru-RU" sz="1700" dirty="0"/>
              <a:t> </a:t>
            </a:r>
          </a:p>
        </p:txBody>
      </p:sp>
      <p:sp>
        <p:nvSpPr>
          <p:cNvPr id="12" name="Номер слайда 11">
            <a:extLst>
              <a:ext uri="{FF2B5EF4-FFF2-40B4-BE49-F238E27FC236}">
                <a16:creationId xmlns:a16="http://schemas.microsoft.com/office/drawing/2014/main" id="{91814EC9-246A-4C6E-941E-5774FE72F0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/>
          <a:p>
            <a:pPr rtl="0"/>
            <a:fld id="{19B51A1E-902D-48AF-9020-955120F399B6}" type="slidenum">
              <a:rPr lang="ru-RU" smtClean="0"/>
              <a:pPr rtl="0"/>
              <a:t>27</a:t>
            </a:fld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49426A-6988-E375-C644-BD49F3EB7976}"/>
              </a:ext>
            </a:extLst>
          </p:cNvPr>
          <p:cNvSpPr txBox="1"/>
          <p:nvPr/>
        </p:nvSpPr>
        <p:spPr>
          <a:xfrm>
            <a:off x="11384445" y="4999918"/>
            <a:ext cx="4472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📊</a:t>
            </a: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9AF2F6-D045-BE90-761C-AB84E8438A09}"/>
              </a:ext>
            </a:extLst>
          </p:cNvPr>
          <p:cNvSpPr txBox="1"/>
          <p:nvPr/>
        </p:nvSpPr>
        <p:spPr>
          <a:xfrm>
            <a:off x="11384445" y="4641256"/>
            <a:ext cx="479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💻</a:t>
            </a:r>
            <a:endParaRPr lang="ru-RU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1E90B-89EE-1EE5-8F50-09FCB8BEDD74}"/>
              </a:ext>
            </a:extLst>
          </p:cNvPr>
          <p:cNvSpPr txBox="1"/>
          <p:nvPr/>
        </p:nvSpPr>
        <p:spPr>
          <a:xfrm>
            <a:off x="11384445" y="4291199"/>
            <a:ext cx="479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📧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53678306"/>
      </p:ext>
    </p:extLst>
  </p:cSld>
  <p:clrMapOvr>
    <a:masterClrMapping/>
  </p:clrMapOvr>
</p:sld>
</file>

<file path=ppt/theme/theme1.xml><?xml version="1.0" encoding="utf-8"?>
<a:theme xmlns:a="http://schemas.openxmlformats.org/drawingml/2006/main" name="Пользовательские">
  <a:themeElements>
    <a:clrScheme name="Бумажная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Custom 149">
      <a:majorFont>
        <a:latin typeface="Corbel"/>
        <a:ea typeface=""/>
        <a:cs typeface=""/>
      </a:majorFont>
      <a:minorFont>
        <a:latin typeface="Candar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_19716558_TF16411250.potx" id="{675E8371-EC70-4345-8B64-A71003B56298}" vid="{0F92AA19-00D6-4C71-B13F-219D7994A0BF}"/>
    </a:ext>
  </a:extLst>
</a:theme>
</file>

<file path=ppt/theme/theme2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9" ma:contentTypeDescription="Create a new document." ma:contentTypeScope="" ma:versionID="76e25e1730b4532ab1d5e5b131a96a5a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d1e9281a84c4949647088091c718de3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B2218FC-8412-44B9-9E82-D51F1F531141}">
  <ds:schemaRefs>
    <ds:schemaRef ds:uri="http://purl.org/dc/terms/"/>
    <ds:schemaRef ds:uri="http://schemas.microsoft.com/sharepoint/v3"/>
    <ds:schemaRef ds:uri="http://purl.org/dc/elements/1.1/"/>
    <ds:schemaRef ds:uri="6dc4bcd6-49db-4c07-9060-8acfc67cef9f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fb0879af-3eba-417a-a55a-ffe6dcd6ca77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B64A4C9D-F801-4923-BC6D-E0006F5123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Яркая бизнес-презентация</Template>
  <TotalTime>2552</TotalTime>
  <Words>1306</Words>
  <Application>Microsoft Office PowerPoint</Application>
  <PresentationFormat>Широкоэкранный</PresentationFormat>
  <Paragraphs>317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5" baseType="lpstr">
      <vt:lpstr>Arial</vt:lpstr>
      <vt:lpstr>Calibri</vt:lpstr>
      <vt:lpstr>Candara</vt:lpstr>
      <vt:lpstr>Corbel</vt:lpstr>
      <vt:lpstr>Mona Sans VF</vt:lpstr>
      <vt:lpstr>quote-cjk-patch</vt:lpstr>
      <vt:lpstr>Times New Roman</vt:lpstr>
      <vt:lpstr>Пользовательские</vt:lpstr>
      <vt:lpstr>Анализ и прогнозирование оттока сотрудников: интеграция поколенческий, поведенческих и сезонных факторов в классическую HR-модель.</vt:lpstr>
      <vt:lpstr>Основные задачи проекта</vt:lpstr>
      <vt:lpstr>Проблема и актуальность</vt:lpstr>
      <vt:lpstr>Цель проекта</vt:lpstr>
      <vt:lpstr>Данные</vt:lpstr>
      <vt:lpstr>Данные</vt:lpstr>
      <vt:lpstr>Гипотезы</vt:lpstr>
      <vt:lpstr>Feature Engineering</vt:lpstr>
      <vt:lpstr>EDA</vt:lpstr>
      <vt:lpstr>EDA: общая картина оттока</vt:lpstr>
      <vt:lpstr>EDA: кто уходит</vt:lpstr>
      <vt:lpstr>EDA: поколенческий и сезонный слои</vt:lpstr>
      <vt:lpstr>EDA: комбинированные среды</vt:lpstr>
      <vt:lpstr>EDA: почему уходят</vt:lpstr>
      <vt:lpstr>EDA: почему уходят</vt:lpstr>
      <vt:lpstr>EDA</vt:lpstr>
      <vt:lpstr>Моделирование</vt:lpstr>
      <vt:lpstr>Подход к моделированию</vt:lpstr>
      <vt:lpstr>Сравнение моделей</vt:lpstr>
      <vt:lpstr>Feature Importance</vt:lpstr>
      <vt:lpstr>Итоговые метрики</vt:lpstr>
      <vt:lpstr>Подведение итогов</vt:lpstr>
      <vt:lpstr>Рекомендации для HR</vt:lpstr>
      <vt:lpstr>Ограничения и развитие</vt:lpstr>
      <vt:lpstr>Выводы</vt:lpstr>
      <vt:lpstr>Large image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47</cp:revision>
  <dcterms:created xsi:type="dcterms:W3CDTF">2026-10-10T11:05:09Z</dcterms:created>
  <dcterms:modified xsi:type="dcterms:W3CDTF">2026-10-12T14:14:39Z</dcterms:modified>
</cp:coreProperties>
</file>