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31"/>
  </p:notesMasterIdLst>
  <p:handoutMasterIdLst>
    <p:handoutMasterId r:id="rId32"/>
  </p:handoutMasterIdLst>
  <p:sldIdLst>
    <p:sldId id="298" r:id="rId4"/>
    <p:sldId id="292" r:id="rId5"/>
    <p:sldId id="283" r:id="rId6"/>
    <p:sldId id="302" r:id="rId7"/>
    <p:sldId id="322" r:id="rId8"/>
    <p:sldId id="297" r:id="rId9"/>
    <p:sldId id="303" r:id="rId10"/>
    <p:sldId id="284" r:id="rId11"/>
    <p:sldId id="323" r:id="rId12"/>
    <p:sldId id="301" r:id="rId13"/>
    <p:sldId id="304" r:id="rId14"/>
    <p:sldId id="305" r:id="rId15"/>
    <p:sldId id="306" r:id="rId16"/>
    <p:sldId id="308" r:id="rId17"/>
    <p:sldId id="307" r:id="rId18"/>
    <p:sldId id="313" r:id="rId19"/>
    <p:sldId id="321" r:id="rId20"/>
    <p:sldId id="311" r:id="rId21"/>
    <p:sldId id="312" r:id="rId22"/>
    <p:sldId id="314" r:id="rId23"/>
    <p:sldId id="315" r:id="rId24"/>
    <p:sldId id="324" r:id="rId25"/>
    <p:sldId id="317" r:id="rId26"/>
    <p:sldId id="316" r:id="rId27"/>
    <p:sldId id="319" r:id="rId28"/>
    <p:sldId id="320" r:id="rId29"/>
    <p:sldId id="296" r:id="rId3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74" autoAdjust="0"/>
  </p:normalViewPr>
  <p:slideViewPr>
    <p:cSldViewPr snapToGrid="0">
      <p:cViewPr varScale="1">
        <p:scale>
          <a:sx n="48" d="100"/>
          <a:sy n="48" d="100"/>
        </p:scale>
        <p:origin x="77" y="48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D2F3D5-FC6D-4BAD-8FD0-CBFB83D68AE6}" type="datetime1">
              <a:rPr lang="ru-RU" smtClean="0"/>
              <a:t>16.10.2026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FB893-0FFF-4C7C-B648-8CDDC0CCCD58}" type="datetime1">
              <a:rPr lang="ru-RU" smtClean="0"/>
              <a:pPr/>
              <a:t>16.10.2026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92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9291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2871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85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5229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2268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063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028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1649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4896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647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9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8268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4229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602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647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751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739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382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929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854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003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257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9330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8979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319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031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4200" b="1" spc="-300" dirty="0"/>
            </a:lvl1pPr>
          </a:lstStyle>
          <a:p>
            <a:pPr lvl="0" algn="r"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-разделитель 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</a:t>
            </a:r>
            <a:br>
              <a:rPr lang="ru-RU" noProof="0" dirty="0"/>
            </a:br>
            <a:r>
              <a:rPr lang="ru-RU" noProof="0" dirty="0"/>
              <a:t>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80000"/>
              </a:lnSpc>
              <a:defRPr lang="en-ZA" sz="4200" b="1" spc="-300" dirty="0"/>
            </a:lvl1pPr>
          </a:lstStyle>
          <a:p>
            <a:pPr lvl="0" algn="r" rtl="0"/>
            <a:r>
              <a:rPr lang="ru-RU" noProof="0" dirty="0"/>
              <a:t>Щелкните, чтобы изменить разделитель разделов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dirty="0"/>
              <a:t>Образец подзаголовка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</a:t>
            </a:r>
            <a:br>
              <a:rPr lang="ru-RU" noProof="0" dirty="0"/>
            </a:br>
            <a:r>
              <a:rPr lang="ru-RU" noProof="0" dirty="0"/>
              <a:t>свое фото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70000"/>
              </a:lnSpc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ru-RU" noProof="0" dirty="0"/>
              <a:t>Щелкните, чтобы изменить разделитель разделов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dirty="0"/>
              <a:t>Образец подзаголовка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екст и изображение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endParaRPr lang="ru-RU" noProof="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449317"/>
            <a:ext cx="5472000" cy="5707117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екст и изображение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70000"/>
              </a:lnSpc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 dirty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dirty="0"/>
              <a:t>Введите подпись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!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60000"/>
              </a:lnSpc>
              <a:defRPr lang="en-ZA" sz="4200" b="1" spc="-300" dirty="0"/>
            </a:lvl1pPr>
          </a:lstStyle>
          <a:p>
            <a:pPr lvl="0" algn="r" rtl="0"/>
            <a:r>
              <a:rPr lang="ru-RU" noProof="0" dirty="0"/>
              <a:t>Спасибо за внимание!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5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1" name="Полилиния: Фигура 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4" name="Надпись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ru-RU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ru-RU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ru-RU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ru-RU" sz="1200" b="0" i="0" spc="140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  <a:endParaRPr lang="ru-RU" sz="1200" b="0" i="0" spc="140" noProof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talens.yandex/agge1svchk9mt?_share_link=public" TargetMode="External"/><Relationship Id="rId4" Type="http://schemas.openxmlformats.org/officeDocument/2006/relationships/hyperlink" Target="https://github.com/nadezhdavol/hse_final_projec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lcaniaabreu/hr-attrition-analysis-and-report/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datalens.yandex/agge1svchk9mt?_share_link=public" TargetMode="External"/><Relationship Id="rId4" Type="http://schemas.openxmlformats.org/officeDocument/2006/relationships/hyperlink" Target="https://github.com/nadezhdavol/hse_final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Круг из сцепленных рук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9465" y="2790908"/>
            <a:ext cx="7532536" cy="1942841"/>
          </a:xfrm>
        </p:spPr>
        <p:txBody>
          <a:bodyPr rtlCol="0" anchor="b"/>
          <a:lstStyle/>
          <a:p>
            <a:pPr rtl="0">
              <a:lnSpc>
                <a:spcPct val="100000"/>
              </a:lnSpc>
            </a:pPr>
            <a:r>
              <a:rPr kumimoji="0" lang="ru-RU" sz="3200" i="0" u="none" strike="noStrike" kern="1200" cap="none" spc="-30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Анализ и прогнозирование оттока сотрудников: </a:t>
            </a:r>
            <a:r>
              <a:rPr kumimoji="0" lang="ru-RU" sz="2800" i="0" u="none" strike="noStrike" kern="1200" cap="none" spc="-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интеграция </a:t>
            </a:r>
            <a:r>
              <a:rPr kumimoji="0" lang="ru-RU" sz="2800" i="0" u="none" strike="noStrike" kern="1200" cap="none" spc="-30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поколенчески</a:t>
            </a:r>
            <a:r>
              <a:rPr kumimoji="0" lang="en-US" sz="2800" i="0" u="none" strike="noStrike" kern="1200" cap="none" spc="-3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ru-RU" sz="2800" i="0" u="none" strike="noStrike" kern="1200" cap="none" spc="-3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sz="2800" i="0" u="none" strike="noStrike" kern="1200" cap="none" spc="-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поведенческих и сезонных факторов в классическую </a:t>
            </a:r>
            <a:r>
              <a:rPr kumimoji="0" lang="en-US" sz="2800" i="0" u="none" strike="noStrike" kern="1200" cap="none" spc="-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HR-</a:t>
            </a:r>
            <a:r>
              <a:rPr kumimoji="0" lang="ru-RU" sz="2800" i="0" u="none" strike="noStrike" kern="1200" cap="none" spc="-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модель.</a:t>
            </a:r>
            <a:endParaRPr lang="ru-RU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9" y="4733748"/>
            <a:ext cx="6643315" cy="1942841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  <a:t>Итоговый проект курса «Аналитик данных» НИУ ВШЭ.</a:t>
            </a:r>
          </a:p>
          <a:p>
            <a:pPr algn="l"/>
            <a:r>
              <a:rPr lang="ru-RU" sz="1800" b="1" i="0" dirty="0">
                <a:solidFill>
                  <a:schemeClr val="tx1"/>
                </a:solidFill>
                <a:effectLst/>
                <a:latin typeface="Mona Sans VF"/>
              </a:rPr>
              <a:t>Автор: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  <a:t> Володина Надежда</a:t>
            </a:r>
            <a:b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</a:br>
            <a:r>
              <a:rPr lang="ru-RU" sz="1800" b="1" i="0" dirty="0">
                <a:solidFill>
                  <a:schemeClr val="tx1"/>
                </a:solidFill>
                <a:effectLst/>
                <a:latin typeface="Mona Sans VF"/>
              </a:rPr>
              <a:t>Научный руководитель: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Mona Sans VF"/>
              </a:rPr>
              <a:t>Паточенко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  <a:t> Евгений</a:t>
            </a:r>
            <a:b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</a:br>
            <a:r>
              <a:rPr lang="ru-RU" sz="1800" b="1" i="0" dirty="0">
                <a:solidFill>
                  <a:schemeClr val="tx1"/>
                </a:solidFill>
                <a:effectLst/>
                <a:latin typeface="Mona Sans VF"/>
              </a:rPr>
              <a:t>Дата: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Mona Sans VF"/>
              </a:rPr>
              <a:t> октябрь 2026</a:t>
            </a:r>
          </a:p>
          <a:p>
            <a:pPr algn="l">
              <a:lnSpc>
                <a:spcPct val="100000"/>
              </a:lnSpc>
            </a:pPr>
            <a:r>
              <a:rPr lang="ru-RU" sz="11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Ссылка на репозиторий проекта </a:t>
            </a:r>
            <a:r>
              <a:rPr lang="ru-RU" sz="11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здесь</a:t>
            </a:r>
            <a:endParaRPr lang="ru-RU" sz="11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ru-RU" sz="11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Ссылка на </a:t>
            </a:r>
            <a:r>
              <a:rPr lang="ru-RU" sz="1100" dirty="0" err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дашборд</a:t>
            </a:r>
            <a:r>
              <a:rPr lang="ru-RU" sz="11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 здесь</a:t>
            </a:r>
            <a:endParaRPr lang="ru-RU" sz="11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1600" b="0" i="0" dirty="0">
              <a:solidFill>
                <a:schemeClr val="tx1"/>
              </a:solidFill>
              <a:effectLst/>
              <a:latin typeface="Mona Sans VF"/>
            </a:endParaRP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Стол с компьютером, телефоном, книгами и т. д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ts val="6000"/>
              </a:lnSpc>
            </a:pPr>
            <a:r>
              <a:rPr lang="ru-RU" sz="5400" dirty="0"/>
              <a:t>Основные задачи проекта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633" y="532738"/>
            <a:ext cx="5499673" cy="4524292"/>
          </a:xfrm>
        </p:spPr>
        <p:txBody>
          <a:bodyPr rtlCol="0"/>
          <a:lstStyle/>
          <a:p>
            <a:pPr marL="0" indent="0"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Почему это важно:</a:t>
            </a:r>
          </a:p>
          <a:p>
            <a:pPr marL="0" indent="0" algn="l">
              <a:buNone/>
            </a:pP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Отток сотрудников — дорого.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Замена одного сотрудника стоит 50-200% его годовой зарплаты.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Классические HR-модели устарели.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Учитывают демографию и зарплату, но не учитывают, как сотрудник себя чувствует.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Поколение Z выходит на рынок.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Их мотивация отличается от миллениалов и 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Стоимость ошибки велика: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не найти уходящего = потерять ценного специалиста; найти «ложного уходящего» = потратить бюджет на удержание без причины.</a:t>
            </a:r>
          </a:p>
        </p:txBody>
      </p:sp>
      <p:pic>
        <p:nvPicPr>
          <p:cNvPr id="9" name="Рисунок 8" descr="Рука прикасается к мобильному телефону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43" y="3802898"/>
            <a:ext cx="5398957" cy="1429059"/>
          </a:xfrm>
        </p:spPr>
        <p:txBody>
          <a:bodyPr rtlCol="0"/>
          <a:lstStyle/>
          <a:p>
            <a:pPr algn="l"/>
            <a:r>
              <a:rPr lang="ru-RU" sz="5400" b="1" dirty="0">
                <a:solidFill>
                  <a:srgbClr val="0F1115"/>
                </a:solidFill>
                <a:effectLst/>
                <a:latin typeface="quote-cjk-patch"/>
              </a:rPr>
              <a:t>Проблема и актуальность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060758" y="5231956"/>
            <a:ext cx="4699242" cy="718743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Рука прикасается к мобильному телефону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43" y="3802898"/>
            <a:ext cx="5398957" cy="1429059"/>
          </a:xfrm>
        </p:spPr>
        <p:txBody>
          <a:bodyPr rtlCol="0"/>
          <a:lstStyle/>
          <a:p>
            <a:pPr algn="l"/>
            <a:r>
              <a:rPr kumimoji="0" lang="ru-RU" altLang="ru-RU" sz="5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Цель проекта</a:t>
            </a:r>
            <a:endParaRPr lang="ru-RU" sz="5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060758" y="5231956"/>
            <a:ext cx="4699242" cy="718743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FBD301C-D893-C8B1-154D-E3DEACDB2AF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70344" y="77947"/>
            <a:ext cx="5454595" cy="51872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Цель: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200" b="1" dirty="0">
              <a:solidFill>
                <a:srgbClr val="0F1115"/>
              </a:solidFill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Построить модель прогнозирования оттока,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которая расширяет классический подход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тремя слоями: поведенческим,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поколенческим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сезонным.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Проверить, улучшают ли эти слои качество прогноза и делают ли модель более объяснимой.</a:t>
            </a: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Провести EDA и выявить закономерности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Создать новые признаки (Generation,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Season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_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of_birth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Overall_Satisfaction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Построить классическую и расширенную модели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Сравнить их качество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Сформулировать рекомендации для HR</a:t>
            </a:r>
          </a:p>
        </p:txBody>
      </p:sp>
    </p:spTree>
    <p:extLst>
      <p:ext uri="{BB962C8B-B14F-4D97-AF65-F5344CB8AC3E}">
        <p14:creationId xmlns:p14="http://schemas.microsoft.com/office/powerpoint/2010/main" val="100851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Стол с компьютером, телефоном, книгами и т. д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ts val="6000"/>
              </a:lnSpc>
            </a:pPr>
            <a:r>
              <a:rPr lang="ru-RU" sz="5400" dirty="0"/>
              <a:t>Данные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333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pPr rtl="0">
              <a:lnSpc>
                <a:spcPts val="5400"/>
              </a:lnSpc>
            </a:pPr>
            <a:r>
              <a:rPr lang="ru-RU" sz="6000" dirty="0"/>
              <a:t>Данные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dirty="0">
                <a:solidFill>
                  <a:schemeClr val="tx1"/>
                </a:solidFill>
                <a:latin typeface="quote-cjk-patch"/>
              </a:rPr>
              <a:t>С чем имеем дело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1631" y="3763649"/>
            <a:ext cx="5168369" cy="2319100"/>
          </a:xfrm>
        </p:spPr>
        <p:txBody>
          <a:bodyPr rtlCol="0"/>
          <a:lstStyle/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Источник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: 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HR-</a:t>
            </a:r>
            <a:r>
              <a:rPr lang="ru-RU" sz="1600" b="0" i="0" dirty="0" err="1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Employee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-</a:t>
            </a:r>
            <a:r>
              <a:rPr lang="ru-RU" sz="1600" b="0" i="0" dirty="0" err="1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Attrition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 (</a:t>
            </a:r>
            <a:r>
              <a:rPr lang="ru-RU" sz="1600" b="0" i="0" dirty="0" err="1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Kaggle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  <a:hlinkClick r:id="rId3"/>
              </a:rPr>
              <a:t>)</a:t>
            </a:r>
            <a:endParaRPr lang="ru-RU" sz="1600" b="0" i="0" dirty="0">
              <a:solidFill>
                <a:srgbClr val="0F1115"/>
              </a:solidFill>
              <a:effectLst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Размер: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 1470</a:t>
            </a: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записей,</a:t>
            </a: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35 признаков</a:t>
            </a: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Целевая переменная: </a:t>
            </a:r>
            <a:r>
              <a:rPr lang="ru-RU" sz="1600" i="0" dirty="0" err="1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Attrition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 (</a:t>
            </a:r>
            <a:r>
              <a:rPr lang="en-US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Yes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/</a:t>
            </a:r>
            <a:r>
              <a:rPr lang="en-US" sz="1600" dirty="0">
                <a:solidFill>
                  <a:srgbClr val="0F1115"/>
                </a:solidFill>
                <a:cs typeface="Arial" panose="020B0604020202020204" pitchFamily="34" charset="0"/>
              </a:rPr>
              <a:t>No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)</a:t>
            </a: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Дисбаланс классов:</a:t>
            </a:r>
            <a:r>
              <a:rPr lang="ru-RU" sz="1600" b="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ru-RU" sz="1600" i="0" dirty="0">
                <a:solidFill>
                  <a:srgbClr val="0F1115"/>
                </a:solidFill>
                <a:effectLst/>
                <a:cs typeface="Arial" panose="020B0604020202020204" pitchFamily="34" charset="0"/>
              </a:rPr>
              <a:t>16.1% ушедших / 83.9% оставшихся</a:t>
            </a:r>
          </a:p>
          <a:p>
            <a:pPr algn="l">
              <a:buFont typeface="+mj-lt"/>
              <a:buAutoNum type="arabicPeriod"/>
            </a:pP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398C55-A7CC-B9F9-E46B-7D9522AE2E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8104" r="18104"/>
          <a:stretch>
            <a:fillRect/>
          </a:stretch>
        </p:blipFill>
        <p:spPr>
          <a:xfrm>
            <a:off x="163445" y="206678"/>
            <a:ext cx="3518010" cy="3041057"/>
          </a:xfr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A88FB2F8-B313-0522-49E7-FE622FA4E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26008"/>
              </p:ext>
            </p:extLst>
          </p:nvPr>
        </p:nvGraphicFramePr>
        <p:xfrm>
          <a:off x="163446" y="4329191"/>
          <a:ext cx="5792081" cy="18807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17375">
                  <a:extLst>
                    <a:ext uri="{9D8B030D-6E8A-4147-A177-3AD203B41FA5}">
                      <a16:colId xmlns:a16="http://schemas.microsoft.com/office/drawing/2014/main" val="3266805833"/>
                    </a:ext>
                  </a:extLst>
                </a:gridCol>
                <a:gridCol w="4174706">
                  <a:extLst>
                    <a:ext uri="{9D8B030D-6E8A-4147-A177-3AD203B41FA5}">
                      <a16:colId xmlns:a16="http://schemas.microsoft.com/office/drawing/2014/main" val="2824854926"/>
                    </a:ext>
                  </a:extLst>
                </a:gridCol>
              </a:tblGrid>
              <a:tr h="336856"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lt1"/>
                          </a:solidFill>
                          <a:effectLst/>
                        </a:rPr>
                        <a:t>Группа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lt1"/>
                          </a:solidFill>
                          <a:effectLst/>
                        </a:rPr>
                        <a:t>Примеры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061486"/>
                  </a:ext>
                </a:extLst>
              </a:tr>
              <a:tr h="308784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</a:rPr>
                        <a:t>Демография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Age, Gender,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MaritalStatus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439846"/>
                  </a:ext>
                </a:extLst>
              </a:tr>
              <a:tr h="308784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</a:rPr>
                        <a:t>Структура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Department,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JobRole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JobLevel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60002"/>
                  </a:ext>
                </a:extLst>
              </a:tr>
              <a:tr h="308784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</a:rPr>
                        <a:t>Компенсация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MonthlyIncome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StockOptionLevel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617197"/>
                  </a:ext>
                </a:extLst>
              </a:tr>
              <a:tr h="308784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</a:rPr>
                        <a:t>Поведение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OverTime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JobSatisfaction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WorkLifeBalance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45865"/>
                  </a:ext>
                </a:extLst>
              </a:tr>
              <a:tr h="308784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</a:rPr>
                        <a:t>Стаж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YearsAtCompany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TotalWorkingYears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662016"/>
                  </a:ext>
                </a:extLst>
              </a:tr>
            </a:tbl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83BD692-A3A1-F097-A504-DA4671F3200F}"/>
              </a:ext>
            </a:extLst>
          </p:cNvPr>
          <p:cNvSpPr/>
          <p:nvPr/>
        </p:nvSpPr>
        <p:spPr>
          <a:xfrm>
            <a:off x="163445" y="3843477"/>
            <a:ext cx="3518010" cy="3651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Таблица групп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Рука пишет что-то на стикере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pPr rtl="0">
              <a:lnSpc>
                <a:spcPts val="5400"/>
              </a:lnSpc>
            </a:pPr>
            <a:r>
              <a:rPr lang="ru-RU" sz="6000" dirty="0"/>
              <a:t>Гипотезы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Гипотезы, которые я проверяла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algn="l">
              <a:buFont typeface="+mj-lt"/>
              <a:buAutoNum type="arabicPeriod"/>
            </a:pPr>
            <a:r>
              <a:rPr lang="ru-RU" sz="1600" b="1" i="0" dirty="0" err="1">
                <a:solidFill>
                  <a:srgbClr val="0F1115"/>
                </a:solidFill>
                <a:effectLst/>
                <a:latin typeface="quote-cjk-patch"/>
              </a:rPr>
              <a:t>Поколенческая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поколение Z уходит чаще, чем X и Y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Поведенческая: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низкая удовлетворённость и сверхурочная работа — сильные предикторы оттока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Сезонная: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сезон рождения влияет на склонность к смене работы (проверяется как прокси)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80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Feature Engineering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Созданные признаки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0" y="191725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90" y="2317775"/>
            <a:ext cx="5472000" cy="360000"/>
          </a:xfrm>
        </p:spPr>
        <p:txBody>
          <a:bodyPr rtlCol="0"/>
          <a:lstStyle/>
          <a:p>
            <a:pPr rtl="0"/>
            <a:r>
              <a:rPr lang="ru-RU" sz="2000" dirty="0"/>
              <a:t>Таблица созданных признаков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BB0A2F7D-61A7-8A33-C217-8AE1EA9161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6389393"/>
              </p:ext>
            </p:extLst>
          </p:nvPr>
        </p:nvGraphicFramePr>
        <p:xfrm>
          <a:off x="419891" y="2913316"/>
          <a:ext cx="10067880" cy="2096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676">
                  <a:extLst>
                    <a:ext uri="{9D8B030D-6E8A-4147-A177-3AD203B41FA5}">
                      <a16:colId xmlns:a16="http://schemas.microsoft.com/office/drawing/2014/main" val="446703337"/>
                    </a:ext>
                  </a:extLst>
                </a:gridCol>
                <a:gridCol w="2989690">
                  <a:extLst>
                    <a:ext uri="{9D8B030D-6E8A-4147-A177-3AD203B41FA5}">
                      <a16:colId xmlns:a16="http://schemas.microsoft.com/office/drawing/2014/main" val="1559398839"/>
                    </a:ext>
                  </a:extLst>
                </a:gridCol>
                <a:gridCol w="4651514">
                  <a:extLst>
                    <a:ext uri="{9D8B030D-6E8A-4147-A177-3AD203B41FA5}">
                      <a16:colId xmlns:a16="http://schemas.microsoft.com/office/drawing/2014/main" val="118524975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Признак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Что означает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Как создан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8237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</a:rPr>
                        <a:t>Generation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</a:rPr>
                        <a:t>X, Y, Z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</a:rPr>
                        <a:t>На основе года рождения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47234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</a:rPr>
                        <a:t>Season_of_Birth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</a:rPr>
                        <a:t>Зима/Весна/Лето/Осень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</a:rPr>
                        <a:t>На основе месяца рождения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9773"/>
                  </a:ext>
                </a:extLst>
              </a:tr>
              <a:tr h="514127"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</a:rPr>
                        <a:t>Overall_Satisfaction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</a:rPr>
                        <a:t>Средний индекс 5 шкал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600" b="0" kern="1200" dirty="0">
                          <a:solidFill>
                            <a:schemeClr val="dk1"/>
                          </a:solidFill>
                          <a:effectLst/>
                        </a:rPr>
                        <a:t>JobSat + EnvSat + RelSat + WLB + Involv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8614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</a:rPr>
                        <a:t>Satisfaction_Level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</a:rPr>
                        <a:t>Low / Medium / High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</a:rPr>
                        <a:t>Категоризация индекса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41128"/>
                  </a:ext>
                </a:extLst>
              </a:tr>
            </a:tbl>
          </a:graphicData>
        </a:graphic>
      </p:graphicFrame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0000" y="1902054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0448014" y="2170706"/>
            <a:ext cx="1323986" cy="272753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  <a:p>
            <a:pPr rtl="0"/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85336" y="2947460"/>
            <a:ext cx="886664" cy="1989658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 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Стол с компьютером, телефоном, книгами и т. д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ts val="6000"/>
              </a:lnSpc>
            </a:pPr>
            <a:r>
              <a:rPr lang="en-US" sz="5400" dirty="0"/>
              <a:t>EDA</a:t>
            </a:r>
            <a:endParaRPr lang="ru-RU" sz="5400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dirty="0"/>
              <a:t> 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2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/>
              <a:t>общая картина оттока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Масштаб проблемы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0" y="191725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3647" y="1151023"/>
            <a:ext cx="5472000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0000" y="1902054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8000" y="2252001"/>
            <a:ext cx="5472000" cy="358775"/>
          </a:xfrm>
        </p:spPr>
        <p:txBody>
          <a:bodyPr rtlCol="0"/>
          <a:lstStyle/>
          <a:p>
            <a:pPr rtl="0"/>
            <a:r>
              <a:rPr lang="ru-RU" dirty="0"/>
              <a:t>Ключевые факторы: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02951" y="2947459"/>
            <a:ext cx="5057050" cy="2300402"/>
          </a:xfrm>
        </p:spPr>
        <p:txBody>
          <a:bodyPr rtlCol="0"/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Ушли: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237 сотрудников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Остались: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1233 сотрудника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Отток: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16.1%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rtl="0"/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10</a:t>
            </a:fld>
            <a:endParaRPr lang="ru-RU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4F9113B3-5A10-E0D8-47B4-CBC893811B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481565" y="2151016"/>
            <a:ext cx="4853760" cy="4522883"/>
          </a:xfrm>
        </p:spPr>
      </p:pic>
    </p:spTree>
    <p:extLst>
      <p:ext uri="{BB962C8B-B14F-4D97-AF65-F5344CB8AC3E}">
        <p14:creationId xmlns:p14="http://schemas.microsoft.com/office/powerpoint/2010/main" val="72285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/>
              <a:t>кто уходит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Портрет уходящего сотрудника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91830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7293" y="2195550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3270" y="1965400"/>
            <a:ext cx="3069224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0506" y="419283"/>
            <a:ext cx="4477751" cy="1679861"/>
          </a:xfrm>
        </p:spPr>
        <p:txBody>
          <a:bodyPr rtlCol="0"/>
          <a:lstStyle/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 полу: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мужчины 17%, женщины 14.8%</a:t>
            </a: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 семейному положению: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одинокие 25.5% 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quote-cjk-patch"/>
              </a:rPr>
              <a:t>vs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женатые 12.5% 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quote-cjk-patch"/>
              </a:rPr>
              <a:t>vs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разведённые 10.1%</a:t>
            </a: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 возрасту: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самый высокий отток до 28 лет</a:t>
            </a: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 департаменту: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Sales 20.6%, HR 19.0%, R&amp;D 13.8%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11</a:t>
            </a:fld>
            <a:endParaRPr lang="ru-RU" dirty="0"/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643E86C4-6EEC-4ED3-1E97-70A380C09F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9583" y="2597917"/>
            <a:ext cx="3934891" cy="3718313"/>
          </a:xfrm>
        </p:spPr>
      </p:pic>
      <p:sp>
        <p:nvSpPr>
          <p:cNvPr id="14" name="Текст 13">
            <a:extLst>
              <a:ext uri="{FF2B5EF4-FFF2-40B4-BE49-F238E27FC236}">
                <a16:creationId xmlns:a16="http://schemas.microsoft.com/office/drawing/2014/main" id="{74343A5C-EA79-752E-8C86-327A961D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8472" y="1389828"/>
            <a:ext cx="2998821" cy="44729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5C876A6-C98B-C240-0823-BEB27F6A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631" y="2615871"/>
            <a:ext cx="3560933" cy="37183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9FEA96D-E64B-9D82-2E70-01E7254F4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629" y="2597125"/>
            <a:ext cx="3654710" cy="370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1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 err="1"/>
              <a:t>поколенческий</a:t>
            </a:r>
            <a:r>
              <a:rPr lang="ru-RU" dirty="0"/>
              <a:t> и сезонный слои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Поколение Z — главный источник оттока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55335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8124" y="2553359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3270" y="1965400"/>
            <a:ext cx="3069224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8124" y="1457149"/>
            <a:ext cx="4477751" cy="1007060"/>
          </a:xfrm>
        </p:spPr>
        <p:txBody>
          <a:bodyPr rtlCol="0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X: 12.5%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Y: 12.9%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Z: 27.9%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← в 2 раза выше</a:t>
            </a:r>
          </a:p>
          <a:p>
            <a:pPr algn="l"/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12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4343A5C-EA79-752E-8C86-327A961D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8472" y="1389828"/>
            <a:ext cx="2998821" cy="44729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A4E507C0-BCDD-9B2D-3175-CA3B727EAE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3906" y="3135045"/>
            <a:ext cx="5096786" cy="3051053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A783973-ABA2-3DA8-0D5C-421A737C2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96" y="3135045"/>
            <a:ext cx="5694518" cy="289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43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/>
              <a:t>комбинированные среды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Кто в зоне максимального риска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55187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66520" y="155187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6520" y="503030"/>
            <a:ext cx="4477751" cy="1007060"/>
          </a:xfrm>
        </p:spPr>
        <p:txBody>
          <a:bodyPr rtlCol="0"/>
          <a:lstStyle/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Группы минимального риска: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Разведённые женщины всех поколений (&lt; 12%)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Женатые мужчины X и Y (&lt; 12%)</a:t>
            </a:r>
          </a:p>
          <a:p>
            <a:pPr algn="l"/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13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4343A5C-EA79-752E-8C86-327A961D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545" y="1869606"/>
            <a:ext cx="2935351" cy="297273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1F2F257D-0A55-FE7C-E1FE-221C1B848D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50866" y="1885370"/>
            <a:ext cx="8184648" cy="4706125"/>
          </a:xfrm>
        </p:spPr>
      </p:pic>
      <p:sp>
        <p:nvSpPr>
          <p:cNvPr id="18" name="Текст 17">
            <a:extLst>
              <a:ext uri="{FF2B5EF4-FFF2-40B4-BE49-F238E27FC236}">
                <a16:creationId xmlns:a16="http://schemas.microsoft.com/office/drawing/2014/main" id="{B9E2424D-E3BB-4FBA-C4C5-996353AF6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701" y="1869605"/>
            <a:ext cx="3197014" cy="1559395"/>
          </a:xfrm>
        </p:spPr>
        <p:txBody>
          <a:bodyPr/>
          <a:lstStyle/>
          <a:p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Топ-3 группы по оттоку: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Одинокие женщины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Z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-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43.8%</a:t>
            </a:r>
            <a:endParaRPr lang="ru-RU" sz="2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Одинокие мужчины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Z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-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39.8%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Одинокие мужчины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 -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27.9%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19750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/>
              <a:t>почему уходят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Поведенческие факторы – ключевые для оттока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91830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7293" y="2195550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3270" y="1965400"/>
            <a:ext cx="3069224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726852"/>
            <a:ext cx="4477751" cy="1282295"/>
          </a:xfrm>
        </p:spPr>
        <p:txBody>
          <a:bodyPr rtlCol="0"/>
          <a:lstStyle/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Переработки:</a:t>
            </a:r>
            <a:r>
              <a:rPr lang="ru-RU" sz="160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ключевой фактор оттока</a:t>
            </a:r>
            <a:r>
              <a:rPr lang="ru-RU" sz="1600" i="0" dirty="0">
                <a:solidFill>
                  <a:srgbClr val="0F1115"/>
                </a:solidFill>
                <a:effectLst/>
                <a:latin typeface="quote-cjk-patch"/>
              </a:rPr>
              <a:t> -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31%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- в 3 раза чаще, чем без них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Удовлетворенность: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с низким уровнем 23%</a:t>
            </a:r>
          </a:p>
          <a:p>
            <a:pPr algn="l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Баланс: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с низким уровнем 31%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14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4343A5C-EA79-752E-8C86-327A961D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8472" y="1389828"/>
            <a:ext cx="2998821" cy="447299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FDE49D3-4883-6C57-1488-15293B78D4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2845" y="2434527"/>
            <a:ext cx="3456382" cy="4100600"/>
          </a:xfr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6251F12-FF55-D34C-1989-DF043FCBF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480" y="2434527"/>
            <a:ext cx="3326900" cy="413206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93277DC-97E0-51E0-7DF5-8C141157A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665" y="2434527"/>
            <a:ext cx="4219829" cy="41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21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EDA: </a:t>
            </a:r>
            <a:r>
              <a:rPr lang="ru-RU" dirty="0"/>
              <a:t>почему уходят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Материальная составляющая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0" y="191725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3647" y="1151023"/>
            <a:ext cx="5472000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0000" y="1902054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1979" y="850573"/>
            <a:ext cx="923833" cy="528683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8165" y="600828"/>
            <a:ext cx="5104736" cy="1158202"/>
          </a:xfrm>
        </p:spPr>
        <p:txBody>
          <a:bodyPr rtlCol="0"/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Уровень опционов на акции: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ключевой фактор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Без опционов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24% (в 2-3 раза больше отток)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Ежемесячный доход: </a:t>
            </a: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слабо влияет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rtl="0"/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15</a:t>
            </a:fld>
            <a:endParaRPr lang="ru-RU" dirty="0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9023C35A-3DF4-313E-9047-888AE32DB1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7725" y="2089096"/>
            <a:ext cx="6651948" cy="2179748"/>
          </a:xfr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B668927-5ED3-3D22-833E-76A4169CE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98" y="4284040"/>
            <a:ext cx="6810973" cy="244324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2CC4A6-4F25-5BFD-DE3D-1F9A494FB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835" y="2712682"/>
            <a:ext cx="3804001" cy="338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23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Рука пишет что-то на стикере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785" y="8476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060" y="962493"/>
            <a:ext cx="6641900" cy="1124345"/>
          </a:xfrm>
        </p:spPr>
        <p:txBody>
          <a:bodyPr rtlCol="0"/>
          <a:lstStyle/>
          <a:p>
            <a:pPr rtl="0">
              <a:lnSpc>
                <a:spcPts val="5400"/>
              </a:lnSpc>
            </a:pPr>
            <a:r>
              <a:rPr lang="en-US" sz="6000" dirty="0"/>
              <a:t>EDA</a:t>
            </a:r>
            <a:endParaRPr lang="ru-RU" sz="6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8060" y="2094991"/>
            <a:ext cx="6641626" cy="590155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dirty="0">
                <a:solidFill>
                  <a:schemeClr val="tx1"/>
                </a:solidFill>
                <a:latin typeface="quote-cjk-patch"/>
              </a:rPr>
              <a:t>Ключевые инсайты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8163" y="2787273"/>
            <a:ext cx="5669279" cy="3923628"/>
          </a:xfrm>
        </p:spPr>
        <p:txBody>
          <a:bodyPr rtlCol="0"/>
          <a:lstStyle/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Поколение Z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уходит чаще всех - 27.9% против 12.5% (X) и 12.9% (Y).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Молодые сотрудники (до 28 лет)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основная группа риска.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Одинокие уходят чаще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25.5% против 12.5% (женатые) и 10.1% (разведённые).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Не имеющие опционов на акции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24.0% против 9 и 8% (в 3 раза выше)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Sales и HR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«горячие точки» — 20.6% и 19.0% оттока.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Human Resources и </a:t>
            </a:r>
            <a:r>
              <a:rPr lang="ru-RU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сферы образования с самым высоким оттоком (25.9% и 24.2%).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Гипотеза о сезонности не подтвердилась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— сезон рождения не влияет на отток.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Степень удовлетворённости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распределена равномерно между поколениями.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Степень удовлетворённости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Переработки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являются ключевыми предикторами оттока.</a:t>
            </a:r>
            <a:endParaRPr lang="ru-RU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225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Стол с компьютером, телефоном, книгами и т. д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ts val="6000"/>
              </a:lnSpc>
            </a:pPr>
            <a:r>
              <a:rPr lang="ru-RU" sz="5400" dirty="0"/>
              <a:t>Моделирование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850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Подход к моделированию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rgbClr val="0F1115"/>
                </a:solidFill>
                <a:latin typeface="quote-cjk-patch"/>
              </a:rPr>
              <a:t>Методология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791898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4" y="279189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3270" y="1965400"/>
            <a:ext cx="3069224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2494" y="3075815"/>
            <a:ext cx="5084261" cy="3169514"/>
          </a:xfrm>
        </p:spPr>
        <p:txBody>
          <a:bodyPr rtlCol="0"/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Методология:</a:t>
            </a:r>
          </a:p>
          <a:p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Кросс-валидация: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StratifiedKFold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n_splits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=5)</a:t>
            </a:r>
          </a:p>
          <a:p>
            <a:pPr algn="l"/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Оптимизация: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GridSearchCV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по метрике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average_precision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(PR-AUC)</a:t>
            </a:r>
          </a:p>
          <a:p>
            <a:pPr algn="l"/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Порог классификации подбирается на тестовой выборке (диапазон 0.20–0.60)</a:t>
            </a:r>
          </a:p>
          <a:p>
            <a:pPr algn="l"/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Учёт дисбаланса: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class_weight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='balanced',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scale_pos_weight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auto_class_weights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600" b="0" i="0" dirty="0" err="1">
                <a:solidFill>
                  <a:srgbClr val="0F1115"/>
                </a:solidFill>
                <a:effectLst/>
                <a:latin typeface="quote-cjk-patch"/>
              </a:rPr>
              <a:t>Препроцессинг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ColumnTransformer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с раздельной обработкой числовых, порядковых, номинальных и бинарных признаков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18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4343A5C-EA79-752E-8C86-327A961D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2" y="1511999"/>
            <a:ext cx="9523232" cy="906801"/>
          </a:xfrm>
        </p:spPr>
        <p:txBody>
          <a:bodyPr/>
          <a:lstStyle/>
          <a:p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Подход: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Классическая модель (Classic) - только демография, структура, компенсация и стаж.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Расширенная модель (</a:t>
            </a:r>
            <a:r>
              <a:rPr lang="ru-RU" sz="14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r>
              <a:rPr lang="ru-RU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- классические признаки + поведенческий, </a:t>
            </a:r>
            <a:r>
              <a:rPr lang="ru-RU" sz="14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поколенческий</a:t>
            </a:r>
            <a:r>
              <a:rPr lang="ru-RU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сезонный слои.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01B086D-125B-6004-69F5-1322212B6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3075815"/>
            <a:ext cx="4787437" cy="3169514"/>
          </a:xfrm>
        </p:spPr>
        <p:txBody>
          <a:bodyPr/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Для каждой группы обучены шесть моделей: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Logistic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Random Forest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i="0" dirty="0" err="1">
                <a:solidFill>
                  <a:srgbClr val="0F1115"/>
                </a:solidFill>
                <a:effectLst/>
                <a:latin typeface="quote-cjk-patch"/>
              </a:rPr>
              <a:t>XGBoost</a:t>
            </a:r>
            <a:endParaRPr lang="en-US" sz="160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LightGBM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CatBoost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SVM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←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победитель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3314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Сравнение моделей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Расширенная модель побеждает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0" y="191725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90" y="2317775"/>
            <a:ext cx="5472000" cy="360000"/>
          </a:xfrm>
        </p:spPr>
        <p:txBody>
          <a:bodyPr rtlCol="0"/>
          <a:lstStyle/>
          <a:p>
            <a:pPr rtl="0"/>
            <a:r>
              <a:rPr lang="ru-RU" sz="2000" dirty="0"/>
              <a:t> 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BB0A2F7D-61A7-8A33-C217-8AE1EA9161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2925649"/>
              </p:ext>
            </p:extLst>
          </p:nvPr>
        </p:nvGraphicFramePr>
        <p:xfrm>
          <a:off x="5557985" y="274899"/>
          <a:ext cx="6202015" cy="237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92326">
                  <a:extLst>
                    <a:ext uri="{9D8B030D-6E8A-4147-A177-3AD203B41FA5}">
                      <a16:colId xmlns:a16="http://schemas.microsoft.com/office/drawing/2014/main" val="446703337"/>
                    </a:ext>
                  </a:extLst>
                </a:gridCol>
                <a:gridCol w="1337374">
                  <a:extLst>
                    <a:ext uri="{9D8B030D-6E8A-4147-A177-3AD203B41FA5}">
                      <a16:colId xmlns:a16="http://schemas.microsoft.com/office/drawing/2014/main" val="1559398839"/>
                    </a:ext>
                  </a:extLst>
                </a:gridCol>
                <a:gridCol w="1476227">
                  <a:extLst>
                    <a:ext uri="{9D8B030D-6E8A-4147-A177-3AD203B41FA5}">
                      <a16:colId xmlns:a16="http://schemas.microsoft.com/office/drawing/2014/main" val="3947038031"/>
                    </a:ext>
                  </a:extLst>
                </a:gridCol>
                <a:gridCol w="1396088">
                  <a:extLst>
                    <a:ext uri="{9D8B030D-6E8A-4147-A177-3AD203B41FA5}">
                      <a16:colId xmlns:a16="http://schemas.microsoft.com/office/drawing/2014/main" val="1185249751"/>
                    </a:ext>
                  </a:extLst>
                </a:gridCol>
              </a:tblGrid>
              <a:tr h="310375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Метрика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Classic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Extended 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Прирост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882372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ROC-AUC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472341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PR-AUC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+0.290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9773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F1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86149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Recall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41128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Precision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+0.277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66265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+0.129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748507"/>
                  </a:ext>
                </a:extLst>
              </a:tr>
            </a:tbl>
          </a:graphicData>
        </a:graphic>
      </p:graphicFrame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7985" y="278560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0448014" y="2170706"/>
            <a:ext cx="1323986" cy="272753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  <a:p>
            <a:pPr rtl="0"/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85336" y="2947460"/>
            <a:ext cx="886664" cy="1989658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 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19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EDDED3D-B0F5-EEF4-59EA-03319BB6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9" y="3008265"/>
            <a:ext cx="11322654" cy="379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1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Feature Importance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влияет на отток сильнее всего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545003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3647" y="1151023"/>
            <a:ext cx="5472000" cy="360000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12696" y="115361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8000" y="2252001"/>
            <a:ext cx="5472000" cy="358775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04889" y="2947459"/>
            <a:ext cx="1455111" cy="1481418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 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20</a:t>
            </a:fld>
            <a:endParaRPr lang="ru-RU" dirty="0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837D2949-8B39-947C-303D-E9B0FF63B8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800" y="1679342"/>
            <a:ext cx="9666357" cy="5038376"/>
          </a:xfrm>
        </p:spPr>
      </p:pic>
    </p:spTree>
    <p:extLst>
      <p:ext uri="{BB962C8B-B14F-4D97-AF65-F5344CB8AC3E}">
        <p14:creationId xmlns:p14="http://schemas.microsoft.com/office/powerpoint/2010/main" val="1092071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Итоговые метрики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Финальные показатели модели</a:t>
            </a:r>
            <a:endParaRPr lang="ru-RU" dirty="0"/>
          </a:p>
        </p:txBody>
      </p:sp>
      <p:sp>
        <p:nvSpPr>
          <p:cNvPr id="12" name="Прямоугольник 11" descr="Контрастный блок слева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0" y="191725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90" y="2317775"/>
            <a:ext cx="5472000" cy="360000"/>
          </a:xfrm>
        </p:spPr>
        <p:txBody>
          <a:bodyPr rtlCol="0"/>
          <a:lstStyle/>
          <a:p>
            <a:pPr rtl="0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Итоговая модель: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SVM</a:t>
            </a:r>
          </a:p>
          <a:p>
            <a:pPr rtl="0"/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Порог классификации: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0.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30</a:t>
            </a:r>
            <a:endParaRPr lang="ru-RU" sz="2000" dirty="0"/>
          </a:p>
        </p:txBody>
      </p:sp>
      <p:cxnSp>
        <p:nvCxnSpPr>
          <p:cNvPr id="11" name="Прямая соединительная линия 10" descr="Разделитель слайда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55103" y="2249242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 descr="Черта справа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9228" y="59058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0448014" y="2170706"/>
            <a:ext cx="1323986" cy="272753"/>
          </a:xfrm>
        </p:spPr>
        <p:txBody>
          <a:bodyPr rtlCol="0"/>
          <a:lstStyle/>
          <a:p>
            <a:pPr rtl="0"/>
            <a:r>
              <a:rPr lang="ru-RU" dirty="0"/>
              <a:t> </a:t>
            </a:r>
          </a:p>
          <a:p>
            <a:pPr rtl="0"/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85336" y="2947460"/>
            <a:ext cx="886664" cy="1989658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 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21</a:t>
            </a:fld>
            <a:endParaRPr lang="ru-RU" dirty="0"/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577983F8-F890-621C-7202-8E88955C6A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314062"/>
              </p:ext>
            </p:extLst>
          </p:nvPr>
        </p:nvGraphicFramePr>
        <p:xfrm>
          <a:off x="431800" y="3320994"/>
          <a:ext cx="3468553" cy="237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92326">
                  <a:extLst>
                    <a:ext uri="{9D8B030D-6E8A-4147-A177-3AD203B41FA5}">
                      <a16:colId xmlns:a16="http://schemas.microsoft.com/office/drawing/2014/main" val="303345110"/>
                    </a:ext>
                  </a:extLst>
                </a:gridCol>
                <a:gridCol w="1476227">
                  <a:extLst>
                    <a:ext uri="{9D8B030D-6E8A-4147-A177-3AD203B41FA5}">
                      <a16:colId xmlns:a16="http://schemas.microsoft.com/office/drawing/2014/main" val="962571082"/>
                    </a:ext>
                  </a:extLst>
                </a:gridCol>
              </a:tblGrid>
              <a:tr h="310375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Метрика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 </a:t>
                      </a:r>
                      <a:r>
                        <a:rPr lang="ru-RU" b="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79412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ROC-AUC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712845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PR-AUC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0.619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827178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F1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0.598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049439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Recall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0.617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721456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Precision (attrition)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367273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0.867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42733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EFE262-4E43-E52B-AA27-E8BED09B1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766" y="1406911"/>
            <a:ext cx="6522241" cy="434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53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Стол с компьютером, телефоном, книгами и т. д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ts val="6000"/>
              </a:lnSpc>
            </a:pPr>
            <a:r>
              <a:rPr lang="ru-RU" sz="5400" dirty="0"/>
              <a:t>Подведение итогов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/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9717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Рука пишет что-то на стикере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785" y="8476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060" y="962493"/>
            <a:ext cx="6641900" cy="1124345"/>
          </a:xfrm>
        </p:spPr>
        <p:txBody>
          <a:bodyPr rtlCol="0"/>
          <a:lstStyle/>
          <a:p>
            <a:pPr rtl="0">
              <a:lnSpc>
                <a:spcPts val="5400"/>
              </a:lnSpc>
            </a:pPr>
            <a:r>
              <a:rPr lang="ru-RU" sz="5400" dirty="0"/>
              <a:t>Рекомендации для</a:t>
            </a:r>
            <a:r>
              <a:rPr lang="en-US" sz="5400" dirty="0"/>
              <a:t> HR</a:t>
            </a:r>
            <a:endParaRPr lang="ru-RU" sz="5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8060" y="2094991"/>
            <a:ext cx="6641626" cy="590155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делать бизнесу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23</a:t>
            </a:fld>
            <a:endParaRPr lang="ru-RU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772CD6D-F571-3DC8-2464-4B9C72A1CA0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164036" y="2870138"/>
            <a:ext cx="5595650" cy="3684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21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Борьба со сверхурочной работой (</a:t>
            </a:r>
            <a:r>
              <a:rPr lang="en-US" altLang="ru-RU" sz="1400" b="1" dirty="0" err="1">
                <a:solidFill>
                  <a:srgbClr val="0F1115"/>
                </a:solidFill>
                <a:latin typeface="quote-cjk-patch"/>
              </a:rPr>
              <a:t>OverTime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Аудит нагрузки в Sales и HR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Ограничение переработок на уровне политики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Программа удержания поколения Z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Менторство от старших коллег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Прозрачный карьерный трек на 6-12 месяцев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Быстрый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онбординг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Работа с вовлечённостью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Ежеквартальные пульс-опросы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Программы признания достижений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Больше автономии в решениях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Развитие карьеры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Performance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review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= разговор о будущем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Инвестиции в обучение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Фокус на «горячие точки»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Exit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-интервью в Sales и HR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Отдельные программы для одиноких молодых сотрудников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90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633" y="532738"/>
            <a:ext cx="5499673" cy="4524292"/>
          </a:xfrm>
        </p:spPr>
        <p:txBody>
          <a:bodyPr rtlCol="0"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Ограничения: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Датасет синтетический, выводы могут не переноситься 1-в-1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Сезонный признак сгенерирован, реальная сезонность не проверена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Год рождения условный (использован текущий год)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можно улучшить: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Получить реальные данные о датах рождения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Добавить временной ряд (динамика оттока за 2-3 года)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Внедрить текстовый анализ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exit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-интервью (NLP)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Провести A/B-тест программы удержания</a:t>
            </a:r>
          </a:p>
        </p:txBody>
      </p:sp>
      <p:pic>
        <p:nvPicPr>
          <p:cNvPr id="9" name="Рисунок 8" descr="Рука прикасается к мобильному телефону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43" y="3802898"/>
            <a:ext cx="5398957" cy="1429059"/>
          </a:xfrm>
        </p:spPr>
        <p:txBody>
          <a:bodyPr rtlCol="0"/>
          <a:lstStyle/>
          <a:p>
            <a:pPr algn="l"/>
            <a:r>
              <a:rPr lang="ru-RU" sz="5400" dirty="0">
                <a:solidFill>
                  <a:srgbClr val="0F1115"/>
                </a:solidFill>
                <a:latin typeface="quote-cjk-patch"/>
              </a:rPr>
              <a:t>Ограничения и развитие</a:t>
            </a:r>
            <a:endParaRPr lang="ru-RU" sz="54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060758" y="5231956"/>
            <a:ext cx="4699242" cy="718743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Честно об ограничениях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53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Рука пишет что-то на стикере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Прямоугольник 19" descr="Контрастный блок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510" y="1275424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785" y="1390248"/>
            <a:ext cx="6641900" cy="1124345"/>
          </a:xfrm>
        </p:spPr>
        <p:txBody>
          <a:bodyPr rtlCol="0"/>
          <a:lstStyle/>
          <a:p>
            <a:pPr rtl="0">
              <a:lnSpc>
                <a:spcPts val="5400"/>
              </a:lnSpc>
            </a:pPr>
            <a:r>
              <a:rPr lang="ru-RU" sz="5400" dirty="0"/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8059" y="2514593"/>
            <a:ext cx="6641626" cy="590155"/>
          </a:xfrm>
          <a:solidFill>
            <a:schemeClr val="tx2">
              <a:lumMod val="40000"/>
              <a:lumOff val="60000"/>
              <a:alpha val="80000"/>
            </a:schemeClr>
          </a:solidFill>
        </p:spPr>
        <p:txBody>
          <a:bodyPr rtlCol="0"/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Итоги проекта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25</a:t>
            </a:fld>
            <a:endParaRPr lang="ru-RU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772CD6D-F571-3DC8-2464-4B9C72A1CA0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297432" y="3253832"/>
            <a:ext cx="5462253" cy="29175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21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4 ключевых вывода: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1600" b="1" i="0" dirty="0" err="1">
                <a:solidFill>
                  <a:srgbClr val="0F1115"/>
                </a:solidFill>
                <a:effectLst/>
                <a:latin typeface="quote-cjk-patch"/>
              </a:rPr>
              <a:t>Поколенческий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 слой работает.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Поколение Z уходит в 2 раза чаще — гипотеза подтверждена.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Расширенная модель лучше классической.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Прирост по всем ключевым метрикам.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 err="1">
                <a:solidFill>
                  <a:srgbClr val="0F1115"/>
                </a:solidFill>
                <a:effectLst/>
                <a:latin typeface="quote-cjk-patch"/>
              </a:rPr>
              <a:t>OverTime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 и </a:t>
            </a:r>
            <a:r>
              <a:rPr lang="ru-RU" sz="1600" b="1" i="0" dirty="0" err="1">
                <a:solidFill>
                  <a:srgbClr val="0F1115"/>
                </a:solidFill>
                <a:effectLst/>
                <a:latin typeface="quote-cjk-patch"/>
              </a:rPr>
              <a:t>Overall_Satisfaction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 — главные драйверы.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Зарплата важна, но не решает всё.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Практическая ценность.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 Модель выявляет конкретные группы риска для HR-программ.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747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конференц-зал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92278" y="4325510"/>
            <a:ext cx="4047214" cy="1661822"/>
          </a:xfrm>
        </p:spPr>
        <p:txBody>
          <a:bodyPr rtlCol="0"/>
          <a:lstStyle/>
          <a:p>
            <a:pPr rtl="0"/>
            <a:r>
              <a:rPr lang="ru-RU" sz="1600" b="0" i="0" dirty="0">
                <a:effectLst/>
                <a:latin typeface="quote-cjk-patch"/>
              </a:rPr>
              <a:t>Проект показал: интеграция поведенческих и </a:t>
            </a:r>
            <a:r>
              <a:rPr lang="ru-RU" sz="1600" b="0" i="0" dirty="0" err="1">
                <a:effectLst/>
                <a:latin typeface="quote-cjk-patch"/>
              </a:rPr>
              <a:t>поколенческих</a:t>
            </a:r>
            <a:r>
              <a:rPr lang="ru-RU" sz="1600" b="0" i="0" dirty="0">
                <a:effectLst/>
                <a:latin typeface="quote-cjk-patch"/>
              </a:rPr>
              <a:t> факторов — это не дань моде, а реальный инструмент улучшения прогноза. Модель можно использовать для выявления сотрудников группы риска и адресной работы с ними.</a:t>
            </a:r>
            <a:endParaRPr lang="ru-RU" sz="16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26</a:t>
            </a:fld>
            <a:endParaRPr lang="ru-RU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Large image</a:t>
            </a:r>
          </a:p>
        </p:txBody>
      </p:sp>
    </p:spTree>
    <p:extLst>
      <p:ext uri="{BB962C8B-B14F-4D97-AF65-F5344CB8AC3E}">
        <p14:creationId xmlns:p14="http://schemas.microsoft.com/office/powerpoint/2010/main" val="561026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Люди аплодируют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sz="4800" dirty="0"/>
              <a:t>Спасибо за внимание!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700" dirty="0"/>
              <a:t>Надежда Володина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r>
              <a:rPr lang="en-US" sz="1700" dirty="0" err="1"/>
              <a:t>nn_volodina</a:t>
            </a:r>
            <a:r>
              <a:rPr lang="ru-RU" sz="1700" dirty="0"/>
              <a:t>@</a:t>
            </a:r>
            <a:r>
              <a:rPr lang="en-US" sz="1700" dirty="0"/>
              <a:t>mail.ru</a:t>
            </a:r>
            <a:endParaRPr lang="ru-RU" sz="17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ru-RU" sz="1700" dirty="0">
                <a:hlinkClick r:id="rId4"/>
              </a:rPr>
              <a:t>Репозиторий</a:t>
            </a:r>
            <a:endParaRPr lang="ru-RU" sz="1700" dirty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r>
              <a:rPr lang="ru-RU" sz="1700" dirty="0"/>
              <a:t> </a:t>
            </a:r>
            <a:r>
              <a:rPr lang="ru-RU" sz="1700" dirty="0">
                <a:hlinkClick r:id="rId5"/>
              </a:rPr>
              <a:t>Ссылка на </a:t>
            </a:r>
            <a:r>
              <a:rPr lang="ru-RU" sz="1700" dirty="0" err="1">
                <a:hlinkClick r:id="rId5"/>
              </a:rPr>
              <a:t>дашборд</a:t>
            </a:r>
            <a:r>
              <a:rPr lang="ru-RU" sz="1700" dirty="0"/>
              <a:t> 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9426A-6988-E375-C644-BD49F3EB7976}"/>
              </a:ext>
            </a:extLst>
          </p:cNvPr>
          <p:cNvSpPr txBox="1"/>
          <p:nvPr/>
        </p:nvSpPr>
        <p:spPr>
          <a:xfrm>
            <a:off x="11384445" y="4999918"/>
            <a:ext cx="447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📊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F2F6-D045-BE90-761C-AB84E8438A09}"/>
              </a:ext>
            </a:extLst>
          </p:cNvPr>
          <p:cNvSpPr txBox="1"/>
          <p:nvPr/>
        </p:nvSpPr>
        <p:spPr>
          <a:xfrm>
            <a:off x="11384445" y="4641256"/>
            <a:ext cx="479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💻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1E90B-89EE-1EE5-8F50-09FCB8BEDD74}"/>
              </a:ext>
            </a:extLst>
          </p:cNvPr>
          <p:cNvSpPr txBox="1"/>
          <p:nvPr/>
        </p:nvSpPr>
        <p:spPr>
          <a:xfrm>
            <a:off x="11384445" y="4291199"/>
            <a:ext cx="479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📧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8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terms/"/>
    <ds:schemaRef ds:uri="http://schemas.microsoft.com/sharepoint/v3"/>
    <ds:schemaRef ds:uri="http://purl.org/dc/elements/1.1/"/>
    <ds:schemaRef ds:uri="6dc4bcd6-49db-4c07-9060-8acfc67cef9f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fb0879af-3eba-417a-a55a-ffe6dcd6ca7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Яркая бизнес-презентация</Template>
  <TotalTime>2552</TotalTime>
  <Words>1307</Words>
  <Application>Microsoft Office PowerPoint</Application>
  <PresentationFormat>Широкоэкранный</PresentationFormat>
  <Paragraphs>317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Calibri</vt:lpstr>
      <vt:lpstr>Candara</vt:lpstr>
      <vt:lpstr>Corbel</vt:lpstr>
      <vt:lpstr>Mona Sans VF</vt:lpstr>
      <vt:lpstr>quote-cjk-patch</vt:lpstr>
      <vt:lpstr>Times New Roman</vt:lpstr>
      <vt:lpstr>Пользовательские</vt:lpstr>
      <vt:lpstr>Анализ и прогнозирование оттока сотрудников: интеграция поколенческиx, поведенческих и сезонных факторов в классическую HR-модель.</vt:lpstr>
      <vt:lpstr>Основные задачи проекта</vt:lpstr>
      <vt:lpstr>Проблема и актуальность</vt:lpstr>
      <vt:lpstr>Цель проекта</vt:lpstr>
      <vt:lpstr>Данные</vt:lpstr>
      <vt:lpstr>Данные</vt:lpstr>
      <vt:lpstr>Гипотезы</vt:lpstr>
      <vt:lpstr>Feature Engineering</vt:lpstr>
      <vt:lpstr>EDA</vt:lpstr>
      <vt:lpstr>EDA: общая картина оттока</vt:lpstr>
      <vt:lpstr>EDA: кто уходит</vt:lpstr>
      <vt:lpstr>EDA: поколенческий и сезонный слои</vt:lpstr>
      <vt:lpstr>EDA: комбинированные среды</vt:lpstr>
      <vt:lpstr>EDA: почему уходят</vt:lpstr>
      <vt:lpstr>EDA: почему уходят</vt:lpstr>
      <vt:lpstr>EDA</vt:lpstr>
      <vt:lpstr>Моделирование</vt:lpstr>
      <vt:lpstr>Подход к моделированию</vt:lpstr>
      <vt:lpstr>Сравнение моделей</vt:lpstr>
      <vt:lpstr>Feature Importance</vt:lpstr>
      <vt:lpstr>Итоговые метрики</vt:lpstr>
      <vt:lpstr>Подведение итогов</vt:lpstr>
      <vt:lpstr>Рекомендации для HR</vt:lpstr>
      <vt:lpstr>Ограничения и развитие</vt:lpstr>
      <vt:lpstr>Выводы</vt:lpstr>
      <vt:lpstr>Large image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48</cp:revision>
  <dcterms:created xsi:type="dcterms:W3CDTF">2026-10-10T11:05:09Z</dcterms:created>
  <dcterms:modified xsi:type="dcterms:W3CDTF">2026-10-16T12:06:04Z</dcterms:modified>
</cp:coreProperties>
</file>